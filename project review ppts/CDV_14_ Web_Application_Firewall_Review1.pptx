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82" r:id="rId4"/>
    <p:sldId id="283" r:id="rId5"/>
    <p:sldId id="257" r:id="rId6"/>
    <p:sldId id="273" r:id="rId7"/>
    <p:sldId id="275" r:id="rId8"/>
    <p:sldId id="276" r:id="rId9"/>
    <p:sldId id="278" r:id="rId10"/>
    <p:sldId id="277" r:id="rId11"/>
    <p:sldId id="271" r:id="rId12"/>
    <p:sldId id="268"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33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8E6909D9-37A1-AEC4-79F0-36E86737237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184FDAF-C2C6-0F2B-D106-85AC87B705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B0B0AD4-4F33-2818-118B-3BA61AED8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1692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6C7266D-55DE-066D-AE32-2B3DC360BDC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371AC8E0-32F2-0F72-9AC4-18C93EFDA2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A30A1DF-EEAD-B128-22C6-FD4A309E6F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5757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365462B-9527-8DA2-954E-031277641EF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BD9D366C-2B76-C05B-E556-E451107C9A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EF148B3-0974-7DEA-A56D-125D6570E2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4448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28CBB98-726A-64FB-CDC8-BCD2AD93F940}"/>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FBFFA95-B388-57A5-6BC3-5CFA95F41A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CA79DDDC-379F-B10C-628D-04040ECC48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4893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b="0" dirty="0">
                <a:solidFill>
                  <a:schemeClr val="tx1"/>
                </a:solidFill>
                <a:latin typeface="Calibri" panose="020F0502020204030204" pitchFamily="34" charset="0"/>
                <a:ea typeface="Calibri" panose="020F0502020204030204" pitchFamily="34" charset="0"/>
                <a:cs typeface="Calibri" panose="020F0502020204030204" pitchFamily="34" charset="0"/>
              </a:rPr>
              <a:t>Transformer based end-to-end Web Application Firewall (WAF) pipeline</a:t>
            </a:r>
            <a:endParaRPr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 CDV_14</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BAILAPPA BHOVI</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46243884"/>
              </p:ext>
            </p:extLst>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20211CDV0062</a:t>
                      </a:r>
                    </a:p>
                    <a:p>
                      <a:pPr marL="0" marR="0" lvl="0" indent="0" algn="ctr" rtl="0">
                        <a:spcBef>
                          <a:spcPts val="0"/>
                        </a:spcBef>
                        <a:spcAft>
                          <a:spcPts val="0"/>
                        </a:spcAft>
                        <a:buFont typeface="+mj-lt"/>
                        <a:buNone/>
                      </a:pPr>
                      <a:r>
                        <a:rPr lang="en-US" sz="1800" u="none" strike="noStrike" cap="none" dirty="0"/>
                        <a:t>20221CDV0050</a:t>
                      </a:r>
                    </a:p>
                    <a:p>
                      <a:pPr marL="0" marR="0" lvl="0" indent="0" algn="ctr" rtl="0">
                        <a:spcBef>
                          <a:spcPts val="0"/>
                        </a:spcBef>
                        <a:spcAft>
                          <a:spcPts val="0"/>
                        </a:spcAft>
                        <a:buFont typeface="+mj-lt"/>
                        <a:buNone/>
                      </a:pPr>
                      <a:r>
                        <a:rPr lang="en-US" sz="1800" u="none" strike="noStrike" cap="none" dirty="0"/>
                        <a:t>20211CDV0024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CHETHAS R</a:t>
                      </a:r>
                    </a:p>
                    <a:p>
                      <a:pPr marL="0" marR="0" lvl="0" indent="0" algn="ctr" rtl="0">
                        <a:spcBef>
                          <a:spcPts val="0"/>
                        </a:spcBef>
                        <a:spcAft>
                          <a:spcPts val="0"/>
                        </a:spcAft>
                        <a:buNone/>
                      </a:pPr>
                      <a:r>
                        <a:rPr lang="en-US" sz="1800" u="none" strike="noStrike" cap="none" dirty="0"/>
                        <a:t>VARSHITH RS</a:t>
                      </a:r>
                    </a:p>
                    <a:p>
                      <a:pPr marL="0" marR="0" lvl="0" indent="0" algn="ctr" rtl="0">
                        <a:spcBef>
                          <a:spcPts val="0"/>
                        </a:spcBef>
                        <a:spcAft>
                          <a:spcPts val="0"/>
                        </a:spcAft>
                        <a:buNone/>
                      </a:pPr>
                      <a:r>
                        <a:rPr lang="en-US" sz="1800" u="none" strike="noStrike" cap="none" dirty="0"/>
                        <a:t>ABDUL KALAM</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CDV-Computer Science &amp; Technology (DEVOPS)</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Dr. Pravinthraja S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accent1"/>
                </a:solidFill>
                <a:latin typeface="Cambria" panose="02040503050406030204" pitchFamily="18" charset="0"/>
                <a:ea typeface="Cambria" panose="02040503050406030204" pitchFamily="18" charset="0"/>
                <a:cs typeface="Verdana"/>
                <a:sym typeface="Verdana"/>
              </a:rPr>
              <a:t>Dr. H M Manjula</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SIH25172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spcBef>
                <a:spcPts val="0"/>
              </a:spcBef>
              <a:buNone/>
            </a:pPr>
            <a:r>
              <a:rPr lang="en-US" sz="6400" dirty="0">
                <a:latin typeface="Calibri" panose="020F0502020204030204" pitchFamily="34" charset="0"/>
                <a:ea typeface="Calibri" panose="020F0502020204030204" pitchFamily="34" charset="0"/>
                <a:cs typeface="Calibri" panose="020F0502020204030204" pitchFamily="34" charset="0"/>
              </a:rPr>
              <a:t>Organization: Indian Space Research Organization (ISRO)</a:t>
            </a:r>
          </a:p>
          <a:p>
            <a:pPr marL="342900" lvl="0" indent="-190500" algn="just">
              <a:spcBef>
                <a:spcPts val="0"/>
              </a:spcBef>
              <a:buNone/>
            </a:pPr>
            <a:endParaRPr lang="en-US" sz="6400" dirty="0">
              <a:latin typeface="Calibri" panose="020F0502020204030204" pitchFamily="34" charset="0"/>
              <a:ea typeface="Calibri" panose="020F0502020204030204" pitchFamily="34" charset="0"/>
              <a:cs typeface="Calibri" panose="020F0502020204030204" pitchFamily="34" charset="0"/>
            </a:endParaRPr>
          </a:p>
          <a:p>
            <a:pPr marL="342900" lvl="0" indent="-190500" algn="just">
              <a:spcBef>
                <a:spcPts val="0"/>
              </a:spcBef>
              <a:buNone/>
            </a:pPr>
            <a:r>
              <a:rPr lang="en-US" sz="6400" dirty="0">
                <a:latin typeface="Calibri" panose="020F0502020204030204" pitchFamily="34" charset="0"/>
                <a:ea typeface="Calibri" panose="020F0502020204030204" pitchFamily="34" charset="0"/>
                <a:cs typeface="Calibri" panose="020F0502020204030204" pitchFamily="34" charset="0"/>
              </a:rPr>
              <a:t>Category (Hardware / Software / Both) :Software</a:t>
            </a:r>
          </a:p>
          <a:p>
            <a:pPr marL="76200" indent="0">
              <a:buNone/>
            </a:pPr>
            <a:r>
              <a:rPr lang="en-US" sz="6400" dirty="0">
                <a:latin typeface="Calibri" panose="020F0502020204030204" pitchFamily="34" charset="0"/>
                <a:ea typeface="Calibri" panose="020F0502020204030204" pitchFamily="34" charset="0"/>
                <a:cs typeface="Calibri" panose="020F0502020204030204" pitchFamily="34" charset="0"/>
              </a:rPr>
              <a:t>Problem Description:</a:t>
            </a:r>
          </a:p>
          <a:p>
            <a:pPr marL="76200" indent="0">
              <a:buNone/>
            </a:pPr>
            <a:r>
              <a:rPr lang="en-US" sz="6400" b="1" dirty="0">
                <a:latin typeface="Calibri" panose="020F0502020204030204" pitchFamily="34" charset="0"/>
                <a:ea typeface="Calibri" panose="020F0502020204030204" pitchFamily="34" charset="0"/>
                <a:cs typeface="Calibri" panose="020F0502020204030204" pitchFamily="34" charset="0"/>
              </a:rPr>
              <a:t>Background</a:t>
            </a: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dirty="0">
                <a:latin typeface="Calibri" panose="020F0502020204030204" pitchFamily="34" charset="0"/>
                <a:ea typeface="Calibri" panose="020F0502020204030204" pitchFamily="34" charset="0"/>
                <a:cs typeface="Calibri" panose="020F0502020204030204" pitchFamily="34" charset="0"/>
              </a:rPr>
              <a:t>Traditional Web Application Firewalls (WAFs) rely primarily on static, rule-based detection (e.g., MoD Security rules). These mechanisms struggle against zero-day exploits or never-seen-before attack patterns. Transformers, however, can learn complex request patterns from raw web traffic and detect anomalies without hard-coded signatures, offering a promising alternative. This challenge asks teams to build a complete pipeline from log ingestion → parsing → transformer-based training → real-time anomaly detection on a live web server.</a:t>
            </a:r>
            <a:br>
              <a:rPr lang="en-US" sz="6400" dirty="0">
                <a:latin typeface="Calibri" panose="020F0502020204030204" pitchFamily="34" charset="0"/>
                <a:ea typeface="Calibri" panose="020F0502020204030204" pitchFamily="34" charset="0"/>
                <a:cs typeface="Calibri" panose="020F0502020204030204" pitchFamily="34" charset="0"/>
              </a:rPr>
            </a:b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b="1" dirty="0">
                <a:latin typeface="Calibri" panose="020F0502020204030204" pitchFamily="34" charset="0"/>
                <a:ea typeface="Calibri" panose="020F0502020204030204" pitchFamily="34" charset="0"/>
                <a:cs typeface="Calibri" panose="020F0502020204030204" pitchFamily="34" charset="0"/>
              </a:rPr>
              <a:t>Detailed Description</a:t>
            </a: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dirty="0">
                <a:latin typeface="Calibri" panose="020F0502020204030204" pitchFamily="34" charset="0"/>
                <a:ea typeface="Calibri" panose="020F0502020204030204" pitchFamily="34" charset="0"/>
                <a:cs typeface="Calibri" panose="020F0502020204030204" pitchFamily="34" charset="0"/>
              </a:rPr>
              <a:t>Participants will be provided with 3 (THREE) sample web application in war compressed format. They need to generate synthetic access log dataset representing benign requests only for the provided 03 applications. They shall use this data to further train the existing transformer models.</a:t>
            </a:r>
            <a:br>
              <a:rPr lang="en-US" sz="6400" dirty="0">
                <a:latin typeface="Calibri" panose="020F0502020204030204" pitchFamily="34" charset="0"/>
                <a:ea typeface="Calibri" panose="020F0502020204030204" pitchFamily="34" charset="0"/>
                <a:cs typeface="Calibri" panose="020F0502020204030204" pitchFamily="34" charset="0"/>
              </a:rPr>
            </a:b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dirty="0">
                <a:latin typeface="Calibri" panose="020F0502020204030204" pitchFamily="34" charset="0"/>
                <a:ea typeface="Calibri" panose="020F0502020204030204" pitchFamily="34" charset="0"/>
                <a:cs typeface="Calibri" panose="020F0502020204030204" pitchFamily="34" charset="0"/>
              </a:rPr>
              <a:t>They must implement a complete system that supports:</a:t>
            </a: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b="1" dirty="0">
                <a:latin typeface="Calibri" panose="020F0502020204030204" pitchFamily="34" charset="0"/>
                <a:ea typeface="Calibri" panose="020F0502020204030204" pitchFamily="34" charset="0"/>
                <a:cs typeface="Calibri" panose="020F0502020204030204" pitchFamily="34" charset="0"/>
              </a:rPr>
              <a:t>Log Ingestion:</a:t>
            </a: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dirty="0">
                <a:latin typeface="Calibri" panose="020F0502020204030204" pitchFamily="34" charset="0"/>
                <a:ea typeface="Calibri" panose="020F0502020204030204" pitchFamily="34" charset="0"/>
                <a:cs typeface="Calibri" panose="020F0502020204030204" pitchFamily="34" charset="0"/>
              </a:rPr>
              <a:t>• Collect access logs from the web server (Apache or Nginx).</a:t>
            </a: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dirty="0">
                <a:latin typeface="Calibri" panose="020F0502020204030204" pitchFamily="34" charset="0"/>
                <a:ea typeface="Calibri" panose="020F0502020204030204" pitchFamily="34" charset="0"/>
                <a:cs typeface="Calibri" panose="020F0502020204030204" pitchFamily="34" charset="0"/>
              </a:rPr>
              <a:t>• Supports both batch ingestion (historical logs) and streaming ingestion (tailing live logs).</a:t>
            </a:r>
          </a:p>
          <a:p>
            <a:pPr marL="76200" indent="0">
              <a:buNone/>
            </a:pPr>
            <a:r>
              <a:rPr lang="en-US" sz="6400" b="1" dirty="0">
                <a:latin typeface="Calibri" panose="020F0502020204030204" pitchFamily="34" charset="0"/>
                <a:ea typeface="Calibri" panose="020F0502020204030204" pitchFamily="34" charset="0"/>
                <a:cs typeface="Calibri" panose="020F0502020204030204" pitchFamily="34" charset="0"/>
              </a:rPr>
              <a:t>Parsing &amp; Normalization:</a:t>
            </a: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dirty="0">
                <a:latin typeface="Calibri" panose="020F0502020204030204" pitchFamily="34" charset="0"/>
                <a:ea typeface="Calibri" panose="020F0502020204030204" pitchFamily="34" charset="0"/>
                <a:cs typeface="Calibri" panose="020F0502020204030204" pitchFamily="34" charset="0"/>
              </a:rPr>
              <a:t>• Extract key fields (method, path, parameters, headers, payload, etc.).</a:t>
            </a:r>
            <a:br>
              <a:rPr lang="en-US" sz="6400" dirty="0">
                <a:latin typeface="Calibri" panose="020F0502020204030204" pitchFamily="34" charset="0"/>
                <a:ea typeface="Calibri" panose="020F0502020204030204" pitchFamily="34" charset="0"/>
                <a:cs typeface="Calibri" panose="020F0502020204030204" pitchFamily="34" charset="0"/>
              </a:rPr>
            </a:br>
            <a:r>
              <a:rPr lang="en-US" sz="6400" dirty="0">
                <a:latin typeface="Calibri" panose="020F0502020204030204" pitchFamily="34" charset="0"/>
                <a:ea typeface="Calibri" panose="020F0502020204030204" pitchFamily="34" charset="0"/>
                <a:cs typeface="Calibri" panose="020F0502020204030204" pitchFamily="34" charset="0"/>
              </a:rPr>
              <a:t>• Normalize/remove dynamic values (IDs, timestamps, tokens, etc.).</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5C813C-E465-C43F-E52C-AD9AA568AC0F}"/>
              </a:ext>
            </a:extLst>
          </p:cNvPr>
          <p:cNvSpPr txBox="1"/>
          <p:nvPr/>
        </p:nvSpPr>
        <p:spPr>
          <a:xfrm>
            <a:off x="727588" y="877183"/>
            <a:ext cx="10589342" cy="520142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Tokenization &amp; Input Transformation: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Convert normalized requests into token sequences suitable for a Transformer-based model.</a:t>
            </a:r>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Model Training:</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Train an open-source Transformer-based model.</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Participants are free to select transformer architecture.</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Training can happen before the grand finale.</a:t>
            </a:r>
          </a:p>
          <a:p>
            <a:r>
              <a:rPr lang="en-US" sz="1600" b="1" dirty="0">
                <a:latin typeface="Calibri" panose="020F0502020204030204" pitchFamily="34" charset="0"/>
                <a:ea typeface="Calibri" panose="020F0502020204030204" pitchFamily="34" charset="0"/>
                <a:cs typeface="Calibri" panose="020F0502020204030204" pitchFamily="34" charset="0"/>
              </a:rPr>
              <a:t>Real-Time Inference &amp; Live Detection: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Deploy the trained model alongside the sample app and integrate it with Apache or Nginx.</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The WAF component must receive each incoming request in real time and detect any anomalous request.</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Detections must run in non-blocking mode </a:t>
            </a:r>
            <a:r>
              <a:rPr lang="en-US" sz="1600" dirty="0" err="1">
                <a:latin typeface="Calibri" panose="020F0502020204030204" pitchFamily="34" charset="0"/>
                <a:ea typeface="Calibri" panose="020F0502020204030204" pitchFamily="34" charset="0"/>
                <a:cs typeface="Calibri" panose="020F0502020204030204" pitchFamily="34" charset="0"/>
              </a:rPr>
              <a:t>i.e</a:t>
            </a:r>
            <a:r>
              <a:rPr lang="en-US" sz="1600" dirty="0">
                <a:latin typeface="Calibri" panose="020F0502020204030204" pitchFamily="34" charset="0"/>
                <a:ea typeface="Calibri" panose="020F0502020204030204" pitchFamily="34" charset="0"/>
                <a:cs typeface="Calibri" panose="020F0502020204030204" pitchFamily="34" charset="0"/>
              </a:rPr>
              <a:t> multiple requests should be scanned simultaneously, without blocking each other or delaying normal traffic.</a:t>
            </a:r>
          </a:p>
          <a:p>
            <a:r>
              <a:rPr lang="en-US" sz="1600" b="1" dirty="0">
                <a:latin typeface="Calibri" panose="020F0502020204030204" pitchFamily="34" charset="0"/>
                <a:ea typeface="Calibri" panose="020F0502020204030204" pitchFamily="34" charset="0"/>
                <a:cs typeface="Calibri" panose="020F0502020204030204" pitchFamily="34" charset="0"/>
              </a:rPr>
              <a:t>Continuous Updates: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Provide an automated mechanism to re-train or fine-tune the existing model on new benign traffic.</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Update should be incremental, there should not be a need to retrain the model on full data, training will be done only on incremental data.</a:t>
            </a:r>
          </a:p>
          <a:p>
            <a:r>
              <a:rPr lang="en-US" sz="1600" b="1" dirty="0">
                <a:latin typeface="Calibri" panose="020F0502020204030204" pitchFamily="34" charset="0"/>
                <a:ea typeface="Calibri" panose="020F0502020204030204" pitchFamily="34" charset="0"/>
                <a:cs typeface="Calibri" panose="020F0502020204030204" pitchFamily="34" charset="0"/>
              </a:rPr>
              <a:t>Demonstration: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Use the supplied web application to show live detection of malicious requests.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Participants will inject malicious payloads (e.g., via curl or script) to test detection.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Judges will provide payload, requests to be done during grand finale to detect accuracy and detection ratio.</a:t>
            </a:r>
          </a:p>
          <a:p>
            <a:br>
              <a:rPr lang="en-US" dirty="0"/>
            </a:br>
            <a:endParaRPr lang="en-US" dirty="0"/>
          </a:p>
        </p:txBody>
      </p:sp>
      <p:sp>
        <p:nvSpPr>
          <p:cNvPr id="3" name="TextBox 2">
            <a:extLst>
              <a:ext uri="{FF2B5EF4-FFF2-40B4-BE49-F238E27FC236}">
                <a16:creationId xmlns:a16="http://schemas.microsoft.com/office/drawing/2014/main" id="{B4E34EFA-ECD2-40FE-4CA7-3C04E7D13CEB}"/>
              </a:ext>
            </a:extLst>
          </p:cNvPr>
          <p:cNvSpPr txBox="1"/>
          <p:nvPr/>
        </p:nvSpPr>
        <p:spPr>
          <a:xfrm>
            <a:off x="786581" y="353963"/>
            <a:ext cx="7973961" cy="523220"/>
          </a:xfrm>
          <a:prstGeom prst="rect">
            <a:avLst/>
          </a:prstGeom>
          <a:noFill/>
        </p:spPr>
        <p:txBody>
          <a:bodyPr wrap="square" rtlCol="0">
            <a:spAutoFit/>
          </a:bodyPr>
          <a:lstStyle/>
          <a:p>
            <a:r>
              <a:rPr lang="en-GB" sz="2800" dirty="0">
                <a:solidFill>
                  <a:schemeClr val="bg2">
                    <a:lumMod val="50000"/>
                  </a:schemeClr>
                </a:solidFill>
                <a:latin typeface="Cambria" panose="02040503050406030204" pitchFamily="18" charset="0"/>
                <a:ea typeface="Cambria" panose="02040503050406030204" pitchFamily="18" charset="0"/>
              </a:rPr>
              <a:t>Problem Statement Number: SIH25172 </a:t>
            </a:r>
            <a:endParaRPr lang="en-IN" sz="2800" dirty="0">
              <a:solidFill>
                <a:schemeClr val="bg2">
                  <a:lumMod val="50000"/>
                </a:schemeClr>
              </a:solidFill>
            </a:endParaRPr>
          </a:p>
        </p:txBody>
      </p:sp>
    </p:spTree>
    <p:extLst>
      <p:ext uri="{BB962C8B-B14F-4D97-AF65-F5344CB8AC3E}">
        <p14:creationId xmlns:p14="http://schemas.microsoft.com/office/powerpoint/2010/main" val="3871067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B3A6E-FBBB-7D22-0650-D4AECDD9AC5E}"/>
              </a:ext>
            </a:extLst>
          </p:cNvPr>
          <p:cNvSpPr>
            <a:spLocks noGrp="1"/>
          </p:cNvSpPr>
          <p:nvPr>
            <p:ph type="title"/>
          </p:nvPr>
        </p:nvSpPr>
        <p:spPr>
          <a:xfrm>
            <a:off x="812800" y="518249"/>
            <a:ext cx="10668000" cy="487500"/>
          </a:xfrm>
        </p:spPr>
        <p:txBody>
          <a:bodyPr/>
          <a:lstStyle/>
          <a:p>
            <a:r>
              <a:rPr lang="en-GB" dirty="0">
                <a:solidFill>
                  <a:schemeClr val="bg2">
                    <a:lumMod val="50000"/>
                  </a:schemeClr>
                </a:solidFill>
                <a:latin typeface="Cambria" panose="02040503050406030204" pitchFamily="18" charset="0"/>
                <a:ea typeface="Cambria" panose="02040503050406030204" pitchFamily="18" charset="0"/>
              </a:rPr>
              <a:t>Problem Statement Number: SIH25172 </a:t>
            </a:r>
            <a:br>
              <a:rPr lang="en-IN" dirty="0">
                <a:solidFill>
                  <a:schemeClr val="bg2">
                    <a:lumMod val="50000"/>
                  </a:schemeClr>
                </a:solidFill>
              </a:rPr>
            </a:br>
            <a:endParaRPr lang="en-IN" dirty="0"/>
          </a:p>
        </p:txBody>
      </p:sp>
      <p:sp>
        <p:nvSpPr>
          <p:cNvPr id="3" name="Text Placeholder 2">
            <a:extLst>
              <a:ext uri="{FF2B5EF4-FFF2-40B4-BE49-F238E27FC236}">
                <a16:creationId xmlns:a16="http://schemas.microsoft.com/office/drawing/2014/main" id="{D89B53AB-0A12-B3FD-78A4-D7B0F43C2F48}"/>
              </a:ext>
            </a:extLst>
          </p:cNvPr>
          <p:cNvSpPr>
            <a:spLocks noGrp="1"/>
          </p:cNvSpPr>
          <p:nvPr>
            <p:ph type="body" idx="1"/>
          </p:nvPr>
        </p:nvSpPr>
        <p:spPr/>
        <p:txBody>
          <a:bodyPr>
            <a:norm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Expected Solution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b="1" dirty="0">
                <a:latin typeface="Calibri" panose="020F0502020204030204" pitchFamily="34" charset="0"/>
                <a:ea typeface="Calibri" panose="020F0502020204030204" pitchFamily="34" charset="0"/>
                <a:cs typeface="Calibri" panose="020F0502020204030204" pitchFamily="34" charset="0"/>
              </a:rPr>
              <a:t>Ingestion:</a:t>
            </a:r>
            <a:r>
              <a:rPr lang="en-US" sz="1600" dirty="0">
                <a:latin typeface="Calibri" panose="020F0502020204030204" pitchFamily="34" charset="0"/>
                <a:ea typeface="Calibri" panose="020F0502020204030204" pitchFamily="34" charset="0"/>
                <a:cs typeface="Calibri" panose="020F0502020204030204" pitchFamily="34" charset="0"/>
              </a:rPr>
              <a:t> Batch and real-time ingestion of access logs (commonly used format by Apache/nginx).</a:t>
            </a:r>
          </a:p>
          <a:p>
            <a:r>
              <a:rPr lang="en-US" sz="1600" b="1" dirty="0">
                <a:latin typeface="Calibri" panose="020F0502020204030204" pitchFamily="34" charset="0"/>
                <a:ea typeface="Calibri" panose="020F0502020204030204" pitchFamily="34" charset="0"/>
                <a:cs typeface="Calibri" panose="020F0502020204030204" pitchFamily="34" charset="0"/>
              </a:rPr>
              <a:t>Parser:</a:t>
            </a:r>
            <a:r>
              <a:rPr lang="en-US" sz="1600" dirty="0">
                <a:latin typeface="Calibri" panose="020F0502020204030204" pitchFamily="34" charset="0"/>
                <a:ea typeface="Calibri" panose="020F0502020204030204" pitchFamily="34" charset="0"/>
                <a:cs typeface="Calibri" panose="020F0502020204030204" pitchFamily="34" charset="0"/>
              </a:rPr>
              <a:t> Structured extraction, normalization.</a:t>
            </a:r>
          </a:p>
          <a:p>
            <a:r>
              <a:rPr lang="en-US" sz="1600" b="1" dirty="0">
                <a:latin typeface="Calibri" panose="020F0502020204030204" pitchFamily="34" charset="0"/>
                <a:ea typeface="Calibri" panose="020F0502020204030204" pitchFamily="34" charset="0"/>
                <a:cs typeface="Calibri" panose="020F0502020204030204" pitchFamily="34" charset="0"/>
              </a:rPr>
              <a:t>Tokenizer:</a:t>
            </a:r>
            <a:r>
              <a:rPr lang="en-US" sz="1600" dirty="0">
                <a:latin typeface="Calibri" panose="020F0502020204030204" pitchFamily="34" charset="0"/>
                <a:ea typeface="Calibri" panose="020F0502020204030204" pitchFamily="34" charset="0"/>
                <a:cs typeface="Calibri" panose="020F0502020204030204" pitchFamily="34" charset="0"/>
              </a:rPr>
              <a:t> Prepares request sequence for Transformer.</a:t>
            </a:r>
          </a:p>
          <a:p>
            <a:r>
              <a:rPr lang="en-US" sz="1600" b="1" dirty="0">
                <a:latin typeface="Calibri" panose="020F0502020204030204" pitchFamily="34" charset="0"/>
                <a:ea typeface="Calibri" panose="020F0502020204030204" pitchFamily="34" charset="0"/>
                <a:cs typeface="Calibri" panose="020F0502020204030204" pitchFamily="34" charset="0"/>
              </a:rPr>
              <a:t>Model Training:</a:t>
            </a:r>
            <a:r>
              <a:rPr lang="en-US" sz="1600" dirty="0">
                <a:latin typeface="Calibri" panose="020F0502020204030204" pitchFamily="34" charset="0"/>
                <a:ea typeface="Calibri" panose="020F0502020204030204" pitchFamily="34" charset="0"/>
                <a:cs typeface="Calibri" panose="020F0502020204030204" pitchFamily="34" charset="0"/>
              </a:rPr>
              <a:t> Transformer model trained on benign traffic.</a:t>
            </a:r>
          </a:p>
          <a:p>
            <a:r>
              <a:rPr lang="en-US" sz="1600" b="1" dirty="0">
                <a:latin typeface="Calibri" panose="020F0502020204030204" pitchFamily="34" charset="0"/>
                <a:ea typeface="Calibri" panose="020F0502020204030204" pitchFamily="34" charset="0"/>
                <a:cs typeface="Calibri" panose="020F0502020204030204" pitchFamily="34" charset="0"/>
              </a:rPr>
              <a:t>Integration:</a:t>
            </a:r>
            <a:r>
              <a:rPr lang="en-US" sz="1600" dirty="0">
                <a:latin typeface="Calibri" panose="020F0502020204030204" pitchFamily="34" charset="0"/>
                <a:ea typeface="Calibri" panose="020F0502020204030204" pitchFamily="34" charset="0"/>
                <a:cs typeface="Calibri" panose="020F0502020204030204" pitchFamily="34" charset="0"/>
              </a:rPr>
              <a:t> Model integration into Apache/Nginx pipeline (via module, sidecar, or external micro service).</a:t>
            </a:r>
          </a:p>
          <a:p>
            <a:r>
              <a:rPr lang="en-US" sz="1600" b="1" dirty="0">
                <a:latin typeface="Calibri" panose="020F0502020204030204" pitchFamily="34" charset="0"/>
                <a:ea typeface="Calibri" panose="020F0502020204030204" pitchFamily="34" charset="0"/>
                <a:cs typeface="Calibri" panose="020F0502020204030204" pitchFamily="34" charset="0"/>
              </a:rPr>
              <a:t>Non-Blocking Detection:</a:t>
            </a:r>
            <a:r>
              <a:rPr lang="en-US" sz="1600" dirty="0">
                <a:latin typeface="Calibri" panose="020F0502020204030204" pitchFamily="34" charset="0"/>
                <a:ea typeface="Calibri" panose="020F0502020204030204" pitchFamily="34" charset="0"/>
                <a:cs typeface="Calibri" panose="020F0502020204030204" pitchFamily="34" charset="0"/>
              </a:rPr>
              <a:t> Concurrent inference on real world traffic.</a:t>
            </a:r>
          </a:p>
          <a:p>
            <a:r>
              <a:rPr lang="en-US" sz="1600" b="1" dirty="0">
                <a:latin typeface="Calibri" panose="020F0502020204030204" pitchFamily="34" charset="0"/>
                <a:ea typeface="Calibri" panose="020F0502020204030204" pitchFamily="34" charset="0"/>
                <a:cs typeface="Calibri" panose="020F0502020204030204" pitchFamily="34" charset="0"/>
              </a:rPr>
              <a:t>Continuous Update:</a:t>
            </a:r>
            <a:r>
              <a:rPr lang="en-US" sz="1600" dirty="0">
                <a:latin typeface="Calibri" panose="020F0502020204030204" pitchFamily="34" charset="0"/>
                <a:ea typeface="Calibri" panose="020F0502020204030204" pitchFamily="34" charset="0"/>
                <a:cs typeface="Calibri" panose="020F0502020204030204" pitchFamily="34" charset="0"/>
              </a:rPr>
              <a:t> Script / API for periodic retraining on incremental data only.</a:t>
            </a:r>
          </a:p>
          <a:p>
            <a:r>
              <a:rPr lang="en-US" sz="1600" b="1" dirty="0">
                <a:latin typeface="Calibri" panose="020F0502020204030204" pitchFamily="34" charset="0"/>
                <a:ea typeface="Calibri" panose="020F0502020204030204" pitchFamily="34" charset="0"/>
                <a:cs typeface="Calibri" panose="020F0502020204030204" pitchFamily="34" charset="0"/>
              </a:rPr>
              <a:t>Demo:</a:t>
            </a:r>
            <a:r>
              <a:rPr lang="en-US" sz="1600" dirty="0">
                <a:latin typeface="Calibri" panose="020F0502020204030204" pitchFamily="34" charset="0"/>
                <a:ea typeface="Calibri" panose="020F0502020204030204" pitchFamily="34" charset="0"/>
                <a:cs typeface="Calibri" panose="020F0502020204030204" pitchFamily="34" charset="0"/>
              </a:rPr>
              <a:t> Live test of malicious input triggering detection log.</a:t>
            </a:r>
          </a:p>
          <a:p>
            <a:endParaRPr lang="en-IN" dirty="0"/>
          </a:p>
        </p:txBody>
      </p:sp>
    </p:spTree>
    <p:extLst>
      <p:ext uri="{BB962C8B-B14F-4D97-AF65-F5344CB8AC3E}">
        <p14:creationId xmlns:p14="http://schemas.microsoft.com/office/powerpoint/2010/main" val="1964313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dirty="0">
                <a:latin typeface="Calibri" panose="020F0502020204030204" pitchFamily="34" charset="0"/>
                <a:ea typeface="Calibri" panose="020F0502020204030204" pitchFamily="34" charset="0"/>
                <a:cs typeface="Calibri" panose="020F0502020204030204" pitchFamily="34" charset="0"/>
              </a:rPr>
              <a:t>Traditional Web Application Firewalls (WAFs) depend on </a:t>
            </a:r>
            <a:r>
              <a:rPr lang="en-US" b="1" dirty="0">
                <a:latin typeface="Calibri" panose="020F0502020204030204" pitchFamily="34" charset="0"/>
                <a:ea typeface="Calibri" panose="020F0502020204030204" pitchFamily="34" charset="0"/>
                <a:cs typeface="Calibri" panose="020F0502020204030204" pitchFamily="34" charset="0"/>
              </a:rPr>
              <a:t>static, rule-based detection mechanisms</a:t>
            </a:r>
            <a:r>
              <a:rPr lang="en-US" dirty="0">
                <a:latin typeface="Calibri" panose="020F0502020204030204" pitchFamily="34" charset="0"/>
                <a:ea typeface="Calibri" panose="020F0502020204030204" pitchFamily="34" charset="0"/>
                <a:cs typeface="Calibri" panose="020F0502020204030204" pitchFamily="34" charset="0"/>
              </a:rPr>
              <a:t> such as MoD Security rules.</a:t>
            </a:r>
          </a:p>
          <a:p>
            <a:r>
              <a:rPr lang="en-US" dirty="0">
                <a:latin typeface="Calibri" panose="020F0502020204030204" pitchFamily="34" charset="0"/>
                <a:ea typeface="Calibri" panose="020F0502020204030204" pitchFamily="34" charset="0"/>
                <a:cs typeface="Calibri" panose="020F0502020204030204" pitchFamily="34" charset="0"/>
              </a:rPr>
              <a:t>These systems:</a:t>
            </a:r>
          </a:p>
          <a:p>
            <a:r>
              <a:rPr lang="en-US" dirty="0">
                <a:latin typeface="Calibri" panose="020F0502020204030204" pitchFamily="34" charset="0"/>
                <a:ea typeface="Calibri" panose="020F0502020204030204" pitchFamily="34" charset="0"/>
                <a:cs typeface="Calibri" panose="020F0502020204030204" pitchFamily="34" charset="0"/>
              </a:rPr>
              <a:t>Fail to detect </a:t>
            </a:r>
            <a:r>
              <a:rPr lang="en-US" b="1" dirty="0">
                <a:latin typeface="Calibri" panose="020F0502020204030204" pitchFamily="34" charset="0"/>
                <a:ea typeface="Calibri" panose="020F0502020204030204" pitchFamily="34" charset="0"/>
                <a:cs typeface="Calibri" panose="020F0502020204030204" pitchFamily="34" charset="0"/>
              </a:rPr>
              <a:t>zero-day attacks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Require </a:t>
            </a:r>
            <a:r>
              <a:rPr lang="en-US" b="1" dirty="0">
                <a:latin typeface="Calibri" panose="020F0502020204030204" pitchFamily="34" charset="0"/>
                <a:ea typeface="Calibri" panose="020F0502020204030204" pitchFamily="34" charset="0"/>
                <a:cs typeface="Calibri" panose="020F0502020204030204" pitchFamily="34" charset="0"/>
              </a:rPr>
              <a:t>manual rule updates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Cannot adapt to </a:t>
            </a:r>
            <a:r>
              <a:rPr lang="en-US" b="1" dirty="0">
                <a:latin typeface="Calibri" panose="020F0502020204030204" pitchFamily="34" charset="0"/>
                <a:ea typeface="Calibri" panose="020F0502020204030204" pitchFamily="34" charset="0"/>
                <a:cs typeface="Calibri" panose="020F0502020204030204" pitchFamily="34" charset="0"/>
              </a:rPr>
              <a:t>new attack patterns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Generate </a:t>
            </a:r>
            <a:r>
              <a:rPr lang="en-US" b="1" dirty="0">
                <a:latin typeface="Calibri" panose="020F0502020204030204" pitchFamily="34" charset="0"/>
                <a:ea typeface="Calibri" panose="020F0502020204030204" pitchFamily="34" charset="0"/>
                <a:cs typeface="Calibri" panose="020F0502020204030204" pitchFamily="34" charset="0"/>
              </a:rPr>
              <a:t>high false positives</a:t>
            </a:r>
          </a:p>
          <a:p>
            <a:r>
              <a:rPr lang="en-US" dirty="0">
                <a:latin typeface="Calibri" panose="020F0502020204030204" pitchFamily="34" charset="0"/>
                <a:ea typeface="Calibri" panose="020F0502020204030204" pitchFamily="34" charset="0"/>
                <a:cs typeface="Calibri" panose="020F0502020204030204" pitchFamily="34" charset="0"/>
              </a:rPr>
              <a:t>There is a need for an </a:t>
            </a:r>
            <a:r>
              <a:rPr lang="en-US" b="1" dirty="0">
                <a:latin typeface="Calibri" panose="020F0502020204030204" pitchFamily="34" charset="0"/>
                <a:ea typeface="Calibri" panose="020F0502020204030204" pitchFamily="34" charset="0"/>
                <a:cs typeface="Calibri" panose="020F0502020204030204" pitchFamily="34" charset="0"/>
              </a:rPr>
              <a:t>adaptive and intelligent WAF</a:t>
            </a:r>
            <a:r>
              <a:rPr lang="en-US" dirty="0">
                <a:latin typeface="Calibri" panose="020F0502020204030204" pitchFamily="34" charset="0"/>
                <a:ea typeface="Calibri" panose="020F0502020204030204" pitchFamily="34" charset="0"/>
                <a:cs typeface="Calibri" panose="020F0502020204030204" pitchFamily="34" charset="0"/>
              </a:rPr>
              <a:t> capable of detecting </a:t>
            </a:r>
            <a:r>
              <a:rPr lang="en-US" b="1" dirty="0">
                <a:latin typeface="Calibri" panose="020F0502020204030204" pitchFamily="34" charset="0"/>
                <a:ea typeface="Calibri" panose="020F0502020204030204" pitchFamily="34" charset="0"/>
                <a:cs typeface="Calibri" panose="020F0502020204030204" pitchFamily="34" charset="0"/>
              </a:rPr>
              <a:t>unknown and anomalous web requests in real time</a:t>
            </a:r>
            <a:r>
              <a:rPr lang="en-US" dirty="0">
                <a:latin typeface="Calibri" panose="020F0502020204030204" pitchFamily="34" charset="0"/>
                <a:ea typeface="Calibri" panose="020F0502020204030204" pitchFamily="34" charset="0"/>
                <a:cs typeface="Calibri" panose="020F0502020204030204" pitchFamily="34" charset="0"/>
              </a:rPr>
              <a:t>.</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0A45761-47C1-237F-F142-15FCD607A6E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2C57A96-EF13-A1D0-6243-32AEE241C6C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Objectives</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2569451C-1844-D768-8BB6-B803CAC22A45}"/>
              </a:ext>
            </a:extLst>
          </p:cNvPr>
          <p:cNvSpPr>
            <a:spLocks noGrp="1" noChangeArrowheads="1"/>
          </p:cNvSpPr>
          <p:nvPr>
            <p:ph type="body" idx="1"/>
          </p:nvPr>
        </p:nvSpPr>
        <p:spPr bwMode="auto">
          <a:xfrm>
            <a:off x="812800" y="554302"/>
            <a:ext cx="869514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Collect web access logs from Apache / Nginx</a:t>
            </a: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Support batch and real-time log ingestion</a:t>
            </a: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Parse and normalize HTTP requests</a:t>
            </a: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Convert requests into Transformer-compatible tokens</a:t>
            </a: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Train a Transformer model on benign traffic</a:t>
            </a: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Detect anomalous requests in real time</a:t>
            </a: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Enable incremental model updates</a:t>
            </a:r>
          </a:p>
          <a:p>
            <a:pPr marL="0" lvl="0" indent="0" eaLnBrk="0" fontAlgn="base" hangingPunct="0">
              <a:lnSpc>
                <a:spcPct val="150000"/>
              </a:lnSpc>
              <a:spcBef>
                <a:spcPct val="0"/>
              </a:spcBef>
              <a:spcAft>
                <a:spcPct val="0"/>
              </a:spcAft>
              <a:buClrTx/>
              <a:buSzTx/>
              <a:buFontTx/>
              <a:buChar char="•"/>
            </a:pPr>
            <a:r>
              <a:rPr lang="en-US" altLang="en-US" sz="1800" dirty="0">
                <a:solidFill>
                  <a:schemeClr val="tx1"/>
                </a:solidFill>
                <a:latin typeface="Arial" panose="020B0604020202020204" pitchFamily="34" charset="0"/>
              </a:rPr>
              <a:t>Demonstrate live detection of malicious requests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endParaRPr>
          </a:p>
        </p:txBody>
      </p:sp>
    </p:spTree>
    <p:extLst>
      <p:ext uri="{BB962C8B-B14F-4D97-AF65-F5344CB8AC3E}">
        <p14:creationId xmlns:p14="http://schemas.microsoft.com/office/powerpoint/2010/main" val="296934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CE01E7C-7F14-0BAF-9942-762CD46004E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670DEF5-2F39-378B-CCAE-D3FB47D500EB}"/>
              </a:ext>
            </a:extLst>
          </p:cNvPr>
          <p:cNvSpPr txBox="1">
            <a:spLocks noGrp="1"/>
          </p:cNvSpPr>
          <p:nvPr>
            <p:ph type="title"/>
          </p:nvPr>
        </p:nvSpPr>
        <p:spPr>
          <a:xfrm>
            <a:off x="762000" y="274500"/>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Background and Related work </a:t>
            </a:r>
          </a:p>
        </p:txBody>
      </p:sp>
      <p:sp>
        <p:nvSpPr>
          <p:cNvPr id="115" name="Google Shape;115;p17">
            <a:extLst>
              <a:ext uri="{FF2B5EF4-FFF2-40B4-BE49-F238E27FC236}">
                <a16:creationId xmlns:a16="http://schemas.microsoft.com/office/drawing/2014/main" id="{EE6622C4-0D70-D664-8B63-D0C049089848}"/>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Background</a:t>
            </a:r>
          </a:p>
          <a:p>
            <a:r>
              <a:rPr lang="en-US" dirty="0">
                <a:latin typeface="Calibri" panose="020F0502020204030204" pitchFamily="34" charset="0"/>
                <a:ea typeface="Calibri" panose="020F0502020204030204" pitchFamily="34" charset="0"/>
                <a:cs typeface="Calibri" panose="020F0502020204030204" pitchFamily="34" charset="0"/>
              </a:rPr>
              <a:t>Traditional WAFs rely on </a:t>
            </a:r>
            <a:r>
              <a:rPr lang="en-US" b="1" dirty="0">
                <a:latin typeface="Calibri" panose="020F0502020204030204" pitchFamily="34" charset="0"/>
                <a:ea typeface="Calibri" panose="020F0502020204030204" pitchFamily="34" charset="0"/>
                <a:cs typeface="Calibri" panose="020F0502020204030204" pitchFamily="34" charset="0"/>
              </a:rPr>
              <a:t>signature-based detection</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Ineffective against </a:t>
            </a:r>
            <a:r>
              <a:rPr lang="en-US" b="1" dirty="0">
                <a:latin typeface="Calibri" panose="020F0502020204030204" pitchFamily="34" charset="0"/>
                <a:ea typeface="Calibri" panose="020F0502020204030204" pitchFamily="34" charset="0"/>
                <a:cs typeface="Calibri" panose="020F0502020204030204" pitchFamily="34" charset="0"/>
              </a:rPr>
              <a:t>never-seen-before attacks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Increasing use of </a:t>
            </a:r>
            <a:r>
              <a:rPr lang="en-US" b="1" dirty="0">
                <a:latin typeface="Calibri" panose="020F0502020204030204" pitchFamily="34" charset="0"/>
                <a:ea typeface="Calibri" panose="020F0502020204030204" pitchFamily="34" charset="0"/>
                <a:cs typeface="Calibri" panose="020F0502020204030204" pitchFamily="34" charset="0"/>
              </a:rPr>
              <a:t>machine learning in cybersecurity</a:t>
            </a:r>
            <a:endParaRPr lang="en-US"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Related Work</a:t>
            </a:r>
          </a:p>
          <a:p>
            <a:r>
              <a:rPr lang="en-US" dirty="0">
                <a:latin typeface="Calibri" panose="020F0502020204030204" pitchFamily="34" charset="0"/>
                <a:ea typeface="Calibri" panose="020F0502020204030204" pitchFamily="34" charset="0"/>
                <a:cs typeface="Calibri" panose="020F0502020204030204" pitchFamily="34" charset="0"/>
              </a:rPr>
              <a:t>Rule-based WAFs (Mod Security)</a:t>
            </a:r>
          </a:p>
          <a:p>
            <a:r>
              <a:rPr lang="en-US" dirty="0">
                <a:latin typeface="Calibri" panose="020F0502020204030204" pitchFamily="34" charset="0"/>
                <a:ea typeface="Calibri" panose="020F0502020204030204" pitchFamily="34" charset="0"/>
                <a:cs typeface="Calibri" panose="020F0502020204030204" pitchFamily="34" charset="0"/>
              </a:rPr>
              <a:t>ML-based intrusion detection systems</a:t>
            </a:r>
          </a:p>
          <a:p>
            <a:r>
              <a:rPr lang="en-US" dirty="0">
                <a:latin typeface="Calibri" panose="020F0502020204030204" pitchFamily="34" charset="0"/>
                <a:ea typeface="Calibri" panose="020F0502020204030204" pitchFamily="34" charset="0"/>
                <a:cs typeface="Calibri" panose="020F0502020204030204" pitchFamily="34" charset="0"/>
              </a:rPr>
              <a:t>Deep learning models for anomaly detection</a:t>
            </a:r>
          </a:p>
          <a:p>
            <a:r>
              <a:rPr lang="en-US" dirty="0">
                <a:latin typeface="Calibri" panose="020F0502020204030204" pitchFamily="34" charset="0"/>
                <a:ea typeface="Calibri" panose="020F0502020204030204" pitchFamily="34" charset="0"/>
                <a:cs typeface="Calibri" panose="020F0502020204030204" pitchFamily="34" charset="0"/>
              </a:rPr>
              <a:t>Recent studies show </a:t>
            </a:r>
            <a:r>
              <a:rPr lang="en-US" b="1" dirty="0">
                <a:latin typeface="Calibri" panose="020F0502020204030204" pitchFamily="34" charset="0"/>
                <a:ea typeface="Calibri" panose="020F0502020204030204" pitchFamily="34" charset="0"/>
                <a:cs typeface="Calibri" panose="020F0502020204030204" pitchFamily="34" charset="0"/>
              </a:rPr>
              <a:t>Transformers outperform RNNs and CNNs</a:t>
            </a:r>
            <a:r>
              <a:rPr lang="en-US" dirty="0">
                <a:latin typeface="Calibri" panose="020F0502020204030204" pitchFamily="34" charset="0"/>
                <a:ea typeface="Calibri" panose="020F0502020204030204" pitchFamily="34" charset="0"/>
                <a:cs typeface="Calibri" panose="020F0502020204030204" pitchFamily="34" charset="0"/>
              </a:rPr>
              <a:t> in sequence learning</a:t>
            </a:r>
          </a:p>
          <a:p>
            <a:pPr marL="7620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8842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C4A8036-827E-EC29-1F16-722F3B12B55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5213757-622A-0471-A67E-B51AFA524DA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a:extLst>
              <a:ext uri="{FF2B5EF4-FFF2-40B4-BE49-F238E27FC236}">
                <a16:creationId xmlns:a16="http://schemas.microsoft.com/office/drawing/2014/main" id="{EEECBE46-E0AC-60BE-68C6-6BEBFA7B6C39}"/>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Problem Analysis</a:t>
            </a:r>
          </a:p>
          <a:p>
            <a:r>
              <a:rPr lang="en-US" dirty="0">
                <a:latin typeface="Calibri" panose="020F0502020204030204" pitchFamily="34" charset="0"/>
                <a:ea typeface="Calibri" panose="020F0502020204030204" pitchFamily="34" charset="0"/>
                <a:cs typeface="Calibri" panose="020F0502020204030204" pitchFamily="34" charset="0"/>
              </a:rPr>
              <a:t>Web traffic is </a:t>
            </a:r>
            <a:r>
              <a:rPr lang="en-US" b="1" dirty="0">
                <a:latin typeface="Calibri" panose="020F0502020204030204" pitchFamily="34" charset="0"/>
                <a:ea typeface="Calibri" panose="020F0502020204030204" pitchFamily="34" charset="0"/>
                <a:cs typeface="Calibri" panose="020F0502020204030204" pitchFamily="34" charset="0"/>
              </a:rPr>
              <a:t>high-dimensional and dynamic</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Attack patterns continuously evolve</a:t>
            </a:r>
          </a:p>
          <a:p>
            <a:r>
              <a:rPr lang="en-US" dirty="0">
                <a:latin typeface="Calibri" panose="020F0502020204030204" pitchFamily="34" charset="0"/>
                <a:ea typeface="Calibri" panose="020F0502020204030204" pitchFamily="34" charset="0"/>
                <a:cs typeface="Calibri" panose="020F0502020204030204" pitchFamily="34" charset="0"/>
              </a:rPr>
              <a:t>Static rules cannot scale</a:t>
            </a:r>
          </a:p>
          <a:p>
            <a:r>
              <a:rPr lang="en-US" dirty="0">
                <a:latin typeface="Calibri" panose="020F0502020204030204" pitchFamily="34" charset="0"/>
                <a:ea typeface="Calibri" panose="020F0502020204030204" pitchFamily="34" charset="0"/>
                <a:cs typeface="Calibri" panose="020F0502020204030204" pitchFamily="34" charset="0"/>
              </a:rPr>
              <a:t>Real-time detection must be </a:t>
            </a:r>
            <a:r>
              <a:rPr lang="en-US" b="1" dirty="0">
                <a:latin typeface="Calibri" panose="020F0502020204030204" pitchFamily="34" charset="0"/>
                <a:ea typeface="Calibri" panose="020F0502020204030204" pitchFamily="34" charset="0"/>
                <a:cs typeface="Calibri" panose="020F0502020204030204" pitchFamily="34" charset="0"/>
              </a:rPr>
              <a:t>non-blocking</a:t>
            </a:r>
            <a:endParaRPr lang="en-US"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Key Challenges</a:t>
            </a:r>
          </a:p>
          <a:p>
            <a:r>
              <a:rPr lang="en-US" dirty="0">
                <a:latin typeface="Calibri" panose="020F0502020204030204" pitchFamily="34" charset="0"/>
                <a:ea typeface="Calibri" panose="020F0502020204030204" pitchFamily="34" charset="0"/>
                <a:cs typeface="Calibri" panose="020F0502020204030204" pitchFamily="34" charset="0"/>
              </a:rPr>
              <a:t>Log normalization</a:t>
            </a:r>
          </a:p>
          <a:p>
            <a:r>
              <a:rPr lang="en-US" dirty="0">
                <a:latin typeface="Calibri" panose="020F0502020204030204" pitchFamily="34" charset="0"/>
                <a:ea typeface="Calibri" panose="020F0502020204030204" pitchFamily="34" charset="0"/>
                <a:cs typeface="Calibri" panose="020F0502020204030204" pitchFamily="34" charset="0"/>
              </a:rPr>
              <a:t>Real-time inference latency</a:t>
            </a:r>
          </a:p>
          <a:p>
            <a:r>
              <a:rPr lang="en-US" dirty="0">
                <a:latin typeface="Calibri" panose="020F0502020204030204" pitchFamily="34" charset="0"/>
                <a:ea typeface="Calibri" panose="020F0502020204030204" pitchFamily="34" charset="0"/>
                <a:cs typeface="Calibri" panose="020F0502020204030204" pitchFamily="34" charset="0"/>
              </a:rPr>
              <a:t>Model generalization</a:t>
            </a:r>
          </a:p>
          <a:p>
            <a:r>
              <a:rPr lang="en-US" dirty="0">
                <a:latin typeface="Calibri" panose="020F0502020204030204" pitchFamily="34" charset="0"/>
                <a:ea typeface="Calibri" panose="020F0502020204030204" pitchFamily="34" charset="0"/>
                <a:cs typeface="Calibri" panose="020F0502020204030204" pitchFamily="34" charset="0"/>
              </a:rPr>
              <a:t>Incremental learning without retraining</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60793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D91703A-1706-3633-AAEC-BE87A12CF3C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714DEA5-C2F6-41DF-1E22-6D08D089C0B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a:t>
            </a:r>
          </a:p>
        </p:txBody>
      </p:sp>
      <p:pic>
        <p:nvPicPr>
          <p:cNvPr id="3" name="Picture 2">
            <a:extLst>
              <a:ext uri="{FF2B5EF4-FFF2-40B4-BE49-F238E27FC236}">
                <a16:creationId xmlns:a16="http://schemas.microsoft.com/office/drawing/2014/main" id="{1316DCE9-0E7E-40ED-0F33-E00146C23FD9}"/>
              </a:ext>
            </a:extLst>
          </p:cNvPr>
          <p:cNvPicPr>
            <a:picLocks noChangeAspect="1"/>
          </p:cNvPicPr>
          <p:nvPr/>
        </p:nvPicPr>
        <p:blipFill>
          <a:blip r:embed="rId3"/>
          <a:stretch>
            <a:fillRect/>
          </a:stretch>
        </p:blipFill>
        <p:spPr>
          <a:xfrm>
            <a:off x="2028723" y="1243831"/>
            <a:ext cx="8690452" cy="4852169"/>
          </a:xfrm>
          <a:prstGeom prst="rect">
            <a:avLst/>
          </a:prstGeom>
        </p:spPr>
      </p:pic>
    </p:spTree>
    <p:extLst>
      <p:ext uri="{BB962C8B-B14F-4D97-AF65-F5344CB8AC3E}">
        <p14:creationId xmlns:p14="http://schemas.microsoft.com/office/powerpoint/2010/main" val="2521026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Innovation or Novel Contributions</a:t>
            </a:r>
            <a:endParaRPr lang="en-US" sz="3600"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1030930A-DD22-54F3-8C5A-D7F1C210C1F0}"/>
              </a:ext>
            </a:extLst>
          </p:cNvPr>
          <p:cNvSpPr>
            <a:spLocks noGrp="1" noChangeArrowheads="1"/>
          </p:cNvSpPr>
          <p:nvPr>
            <p:ph type="body" idx="1"/>
          </p:nvPr>
        </p:nvSpPr>
        <p:spPr bwMode="auto">
          <a:xfrm>
            <a:off x="812800" y="1053571"/>
            <a:ext cx="9297738" cy="5065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Novel Contributions</a:t>
            </a:r>
          </a:p>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Transformer-based </a:t>
            </a:r>
            <a:r>
              <a:rPr lang="en-US" b="1" dirty="0">
                <a:latin typeface="Calibri" panose="020F0502020204030204" pitchFamily="34" charset="0"/>
                <a:ea typeface="Calibri" panose="020F0502020204030204" pitchFamily="34" charset="0"/>
                <a:cs typeface="Calibri" panose="020F0502020204030204" pitchFamily="34" charset="0"/>
              </a:rPr>
              <a:t>anomaly detection</a:t>
            </a:r>
            <a:r>
              <a:rPr lang="en-US" dirty="0">
                <a:latin typeface="Calibri" panose="020F0502020204030204" pitchFamily="34" charset="0"/>
                <a:ea typeface="Calibri" panose="020F0502020204030204" pitchFamily="34" charset="0"/>
                <a:cs typeface="Calibri" panose="020F0502020204030204" pitchFamily="34" charset="0"/>
              </a:rPr>
              <a:t> instead of signature matching</a:t>
            </a:r>
          </a:p>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Training on </a:t>
            </a:r>
            <a:r>
              <a:rPr lang="en-US" b="1" dirty="0">
                <a:latin typeface="Calibri" panose="020F0502020204030204" pitchFamily="34" charset="0"/>
                <a:ea typeface="Calibri" panose="020F0502020204030204" pitchFamily="34" charset="0"/>
                <a:cs typeface="Calibri" panose="020F0502020204030204" pitchFamily="34" charset="0"/>
              </a:rPr>
              <a:t>benign traffic only</a:t>
            </a:r>
            <a:endParaRPr lang="en-US"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End-to-end pipeline from logs to live detection</a:t>
            </a:r>
          </a:p>
          <a:p>
            <a:pPr>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Non-blocking, concurrent request analysis</a:t>
            </a:r>
            <a:endParaRPr lang="en-US"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Incremental fine-tuning using new benign data</a:t>
            </a:r>
          </a:p>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Real-time deployment alongside web server</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GitHub Link : https://github.com/varshthrss/CDV_14_WEB_Pipeline</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a:t>
            </a:r>
            <a:endParaRPr dirty="0">
              <a:latin typeface="Cambria" panose="02040503050406030204" pitchFamily="18" charset="0"/>
              <a:ea typeface="Cambria" panose="02040503050406030204" pitchFamily="18" charset="0"/>
            </a:endParaRPr>
          </a:p>
        </p:txBody>
      </p:sp>
      <p:graphicFrame>
        <p:nvGraphicFramePr>
          <p:cNvPr id="5" name="Table 4">
            <a:extLst>
              <a:ext uri="{FF2B5EF4-FFF2-40B4-BE49-F238E27FC236}">
                <a16:creationId xmlns:a16="http://schemas.microsoft.com/office/drawing/2014/main" id="{BA3E1E4F-3F91-D381-B067-5998133CD7EC}"/>
              </a:ext>
            </a:extLst>
          </p:cNvPr>
          <p:cNvGraphicFramePr>
            <a:graphicFrameLocks noGrp="1"/>
          </p:cNvGraphicFramePr>
          <p:nvPr>
            <p:extLst>
              <p:ext uri="{D42A27DB-BD31-4B8C-83A1-F6EECF244321}">
                <p14:modId xmlns:p14="http://schemas.microsoft.com/office/powerpoint/2010/main" val="2873915598"/>
              </p:ext>
            </p:extLst>
          </p:nvPr>
        </p:nvGraphicFramePr>
        <p:xfrm>
          <a:off x="1914013" y="1920348"/>
          <a:ext cx="8127999" cy="3144576"/>
        </p:xfrm>
        <a:graphic>
          <a:graphicData uri="http://schemas.openxmlformats.org/drawingml/2006/table">
            <a:tbl>
              <a:tblPr firstRow="1" bandRow="1"/>
              <a:tblGrid>
                <a:gridCol w="2709333">
                  <a:extLst>
                    <a:ext uri="{9D8B030D-6E8A-4147-A177-3AD203B41FA5}">
                      <a16:colId xmlns:a16="http://schemas.microsoft.com/office/drawing/2014/main" val="2440663211"/>
                    </a:ext>
                  </a:extLst>
                </a:gridCol>
                <a:gridCol w="2709333">
                  <a:extLst>
                    <a:ext uri="{9D8B030D-6E8A-4147-A177-3AD203B41FA5}">
                      <a16:colId xmlns:a16="http://schemas.microsoft.com/office/drawing/2014/main" val="2502422185"/>
                    </a:ext>
                  </a:extLst>
                </a:gridCol>
                <a:gridCol w="2709333">
                  <a:extLst>
                    <a:ext uri="{9D8B030D-6E8A-4147-A177-3AD203B41FA5}">
                      <a16:colId xmlns:a16="http://schemas.microsoft.com/office/drawing/2014/main" val="2075318866"/>
                    </a:ext>
                  </a:extLst>
                </a:gridCol>
              </a:tblGrid>
              <a:tr h="548696">
                <a:tc>
                  <a:txBody>
                    <a:bodyPr/>
                    <a:lstStyle/>
                    <a:p>
                      <a:pPr>
                        <a:buNone/>
                      </a:pPr>
                      <a:r>
                        <a:rPr lang="en-IN" b="1">
                          <a:solidFill>
                            <a:schemeClr val="tx1"/>
                          </a:solidFill>
                        </a:rPr>
                        <a:t>Phase</a:t>
                      </a:r>
                    </a:p>
                  </a:txBody>
                  <a:tcPr anchor="ctr">
                    <a:solidFill>
                      <a:schemeClr val="bg2"/>
                    </a:solidFill>
                  </a:tcPr>
                </a:tc>
                <a:tc>
                  <a:txBody>
                    <a:bodyPr/>
                    <a:lstStyle/>
                    <a:p>
                      <a:pPr>
                        <a:buNone/>
                      </a:pPr>
                      <a:r>
                        <a:rPr lang="en-IN" b="1" dirty="0">
                          <a:solidFill>
                            <a:schemeClr val="tx1"/>
                          </a:solidFill>
                        </a:rPr>
                        <a:t>Activity</a:t>
                      </a:r>
                    </a:p>
                  </a:txBody>
                  <a:tcPr anchor="ctr">
                    <a:solidFill>
                      <a:schemeClr val="bg2"/>
                    </a:solidFill>
                  </a:tcPr>
                </a:tc>
                <a:tc>
                  <a:txBody>
                    <a:bodyPr/>
                    <a:lstStyle/>
                    <a:p>
                      <a:pPr>
                        <a:buNone/>
                      </a:pPr>
                      <a:r>
                        <a:rPr lang="en-IN" b="1" dirty="0">
                          <a:solidFill>
                            <a:schemeClr val="tx1"/>
                          </a:solidFill>
                        </a:rPr>
                        <a:t>Duration</a:t>
                      </a:r>
                    </a:p>
                  </a:txBody>
                  <a:tcPr anchor="ctr">
                    <a:solidFill>
                      <a:schemeClr val="bg2"/>
                    </a:solidFill>
                  </a:tcPr>
                </a:tc>
                <a:extLst>
                  <a:ext uri="{0D108BD9-81ED-4DB2-BD59-A6C34878D82A}">
                    <a16:rowId xmlns:a16="http://schemas.microsoft.com/office/drawing/2014/main" val="2929034507"/>
                  </a:ext>
                </a:extLst>
              </a:tr>
              <a:tr h="370840">
                <a:tc>
                  <a:txBody>
                    <a:bodyPr/>
                    <a:lstStyle/>
                    <a:p>
                      <a:pPr>
                        <a:buNone/>
                      </a:pPr>
                      <a:r>
                        <a:rPr lang="en-IN"/>
                        <a:t>Phase 1</a:t>
                      </a:r>
                    </a:p>
                  </a:txBody>
                  <a:tcPr anchor="ctr">
                    <a:solidFill>
                      <a:schemeClr val="bg2">
                        <a:lumMod val="60000"/>
                        <a:lumOff val="40000"/>
                      </a:schemeClr>
                    </a:solidFill>
                  </a:tcPr>
                </a:tc>
                <a:tc>
                  <a:txBody>
                    <a:bodyPr/>
                    <a:lstStyle/>
                    <a:p>
                      <a:pPr>
                        <a:buNone/>
                      </a:pPr>
                      <a:r>
                        <a:rPr lang="en-IN"/>
                        <a:t>Literature survey &amp; design</a:t>
                      </a:r>
                    </a:p>
                  </a:txBody>
                  <a:tcPr anchor="ctr">
                    <a:solidFill>
                      <a:schemeClr val="bg2">
                        <a:lumMod val="60000"/>
                        <a:lumOff val="40000"/>
                      </a:schemeClr>
                    </a:solidFill>
                  </a:tcPr>
                </a:tc>
                <a:tc>
                  <a:txBody>
                    <a:bodyPr/>
                    <a:lstStyle/>
                    <a:p>
                      <a:pPr>
                        <a:buNone/>
                      </a:pPr>
                      <a:r>
                        <a:rPr lang="en-IN"/>
                        <a:t>Week 1–2</a:t>
                      </a:r>
                    </a:p>
                  </a:txBody>
                  <a:tcPr anchor="ctr">
                    <a:solidFill>
                      <a:schemeClr val="bg2">
                        <a:lumMod val="60000"/>
                        <a:lumOff val="40000"/>
                      </a:schemeClr>
                    </a:solidFill>
                  </a:tcPr>
                </a:tc>
                <a:extLst>
                  <a:ext uri="{0D108BD9-81ED-4DB2-BD59-A6C34878D82A}">
                    <a16:rowId xmlns:a16="http://schemas.microsoft.com/office/drawing/2014/main" val="2470201069"/>
                  </a:ext>
                </a:extLst>
              </a:tr>
              <a:tr h="370840">
                <a:tc>
                  <a:txBody>
                    <a:bodyPr/>
                    <a:lstStyle/>
                    <a:p>
                      <a:pPr>
                        <a:buNone/>
                      </a:pPr>
                      <a:r>
                        <a:rPr lang="en-IN"/>
                        <a:t>Phase 2</a:t>
                      </a:r>
                    </a:p>
                  </a:txBody>
                  <a:tcPr anchor="ctr">
                    <a:solidFill>
                      <a:schemeClr val="bg2">
                        <a:lumMod val="60000"/>
                        <a:lumOff val="40000"/>
                      </a:schemeClr>
                    </a:solidFill>
                  </a:tcPr>
                </a:tc>
                <a:tc>
                  <a:txBody>
                    <a:bodyPr/>
                    <a:lstStyle/>
                    <a:p>
                      <a:pPr>
                        <a:buNone/>
                      </a:pPr>
                      <a:r>
                        <a:rPr lang="en-IN"/>
                        <a:t>Log ingestion &amp; parsing</a:t>
                      </a:r>
                    </a:p>
                  </a:txBody>
                  <a:tcPr anchor="ctr">
                    <a:solidFill>
                      <a:schemeClr val="bg2">
                        <a:lumMod val="60000"/>
                        <a:lumOff val="40000"/>
                      </a:schemeClr>
                    </a:solidFill>
                  </a:tcPr>
                </a:tc>
                <a:tc>
                  <a:txBody>
                    <a:bodyPr/>
                    <a:lstStyle/>
                    <a:p>
                      <a:pPr>
                        <a:buNone/>
                      </a:pPr>
                      <a:r>
                        <a:rPr lang="en-IN"/>
                        <a:t>Week 3–4</a:t>
                      </a:r>
                    </a:p>
                  </a:txBody>
                  <a:tcPr anchor="ctr">
                    <a:solidFill>
                      <a:schemeClr val="bg2">
                        <a:lumMod val="60000"/>
                        <a:lumOff val="40000"/>
                      </a:schemeClr>
                    </a:solidFill>
                  </a:tcPr>
                </a:tc>
                <a:extLst>
                  <a:ext uri="{0D108BD9-81ED-4DB2-BD59-A6C34878D82A}">
                    <a16:rowId xmlns:a16="http://schemas.microsoft.com/office/drawing/2014/main" val="2226180285"/>
                  </a:ext>
                </a:extLst>
              </a:tr>
              <a:tr h="370840">
                <a:tc>
                  <a:txBody>
                    <a:bodyPr/>
                    <a:lstStyle/>
                    <a:p>
                      <a:pPr>
                        <a:buNone/>
                      </a:pPr>
                      <a:r>
                        <a:rPr lang="en-IN"/>
                        <a:t>Phase 3</a:t>
                      </a:r>
                    </a:p>
                  </a:txBody>
                  <a:tcPr anchor="ctr">
                    <a:solidFill>
                      <a:schemeClr val="bg2">
                        <a:lumMod val="60000"/>
                        <a:lumOff val="40000"/>
                      </a:schemeClr>
                    </a:solidFill>
                  </a:tcPr>
                </a:tc>
                <a:tc>
                  <a:txBody>
                    <a:bodyPr/>
                    <a:lstStyle/>
                    <a:p>
                      <a:pPr>
                        <a:buNone/>
                      </a:pPr>
                      <a:r>
                        <a:rPr lang="en-IN"/>
                        <a:t>Tokenization &amp; model training</a:t>
                      </a:r>
                    </a:p>
                  </a:txBody>
                  <a:tcPr anchor="ctr">
                    <a:solidFill>
                      <a:schemeClr val="bg2">
                        <a:lumMod val="60000"/>
                        <a:lumOff val="40000"/>
                      </a:schemeClr>
                    </a:solidFill>
                  </a:tcPr>
                </a:tc>
                <a:tc>
                  <a:txBody>
                    <a:bodyPr/>
                    <a:lstStyle/>
                    <a:p>
                      <a:pPr>
                        <a:buNone/>
                      </a:pPr>
                      <a:r>
                        <a:rPr lang="en-IN"/>
                        <a:t>Week 5–6</a:t>
                      </a:r>
                    </a:p>
                  </a:txBody>
                  <a:tcPr anchor="ctr">
                    <a:solidFill>
                      <a:schemeClr val="bg2">
                        <a:lumMod val="60000"/>
                        <a:lumOff val="40000"/>
                      </a:schemeClr>
                    </a:solidFill>
                  </a:tcPr>
                </a:tc>
                <a:extLst>
                  <a:ext uri="{0D108BD9-81ED-4DB2-BD59-A6C34878D82A}">
                    <a16:rowId xmlns:a16="http://schemas.microsoft.com/office/drawing/2014/main" val="178461996"/>
                  </a:ext>
                </a:extLst>
              </a:tr>
              <a:tr h="370840">
                <a:tc>
                  <a:txBody>
                    <a:bodyPr/>
                    <a:lstStyle/>
                    <a:p>
                      <a:pPr>
                        <a:buNone/>
                      </a:pPr>
                      <a:r>
                        <a:rPr lang="en-IN"/>
                        <a:t>Phase 4</a:t>
                      </a:r>
                    </a:p>
                  </a:txBody>
                  <a:tcPr anchor="ctr">
                    <a:solidFill>
                      <a:schemeClr val="bg2">
                        <a:lumMod val="60000"/>
                        <a:lumOff val="40000"/>
                      </a:schemeClr>
                    </a:solidFill>
                  </a:tcPr>
                </a:tc>
                <a:tc>
                  <a:txBody>
                    <a:bodyPr/>
                    <a:lstStyle/>
                    <a:p>
                      <a:pPr>
                        <a:buNone/>
                      </a:pPr>
                      <a:r>
                        <a:rPr lang="en-IN"/>
                        <a:t>Real-time inference integration</a:t>
                      </a:r>
                    </a:p>
                  </a:txBody>
                  <a:tcPr anchor="ctr">
                    <a:solidFill>
                      <a:schemeClr val="bg2">
                        <a:lumMod val="60000"/>
                        <a:lumOff val="40000"/>
                      </a:schemeClr>
                    </a:solidFill>
                  </a:tcPr>
                </a:tc>
                <a:tc>
                  <a:txBody>
                    <a:bodyPr/>
                    <a:lstStyle/>
                    <a:p>
                      <a:pPr>
                        <a:buNone/>
                      </a:pPr>
                      <a:r>
                        <a:rPr lang="en-IN"/>
                        <a:t>Week 7–8</a:t>
                      </a:r>
                    </a:p>
                  </a:txBody>
                  <a:tcPr anchor="ctr">
                    <a:solidFill>
                      <a:schemeClr val="bg2">
                        <a:lumMod val="60000"/>
                        <a:lumOff val="40000"/>
                      </a:schemeClr>
                    </a:solidFill>
                  </a:tcPr>
                </a:tc>
                <a:extLst>
                  <a:ext uri="{0D108BD9-81ED-4DB2-BD59-A6C34878D82A}">
                    <a16:rowId xmlns:a16="http://schemas.microsoft.com/office/drawing/2014/main" val="3026754834"/>
                  </a:ext>
                </a:extLst>
              </a:tr>
              <a:tr h="370840">
                <a:tc>
                  <a:txBody>
                    <a:bodyPr/>
                    <a:lstStyle/>
                    <a:p>
                      <a:pPr>
                        <a:buNone/>
                      </a:pPr>
                      <a:r>
                        <a:rPr lang="en-IN"/>
                        <a:t>Phase 5</a:t>
                      </a:r>
                    </a:p>
                  </a:txBody>
                  <a:tcPr anchor="ctr">
                    <a:solidFill>
                      <a:schemeClr val="bg2">
                        <a:lumMod val="60000"/>
                        <a:lumOff val="40000"/>
                      </a:schemeClr>
                    </a:solidFill>
                  </a:tcPr>
                </a:tc>
                <a:tc>
                  <a:txBody>
                    <a:bodyPr/>
                    <a:lstStyle/>
                    <a:p>
                      <a:pPr>
                        <a:buNone/>
                      </a:pPr>
                      <a:r>
                        <a:rPr lang="en-IN"/>
                        <a:t>Incremental learning</a:t>
                      </a:r>
                    </a:p>
                  </a:txBody>
                  <a:tcPr anchor="ctr">
                    <a:solidFill>
                      <a:schemeClr val="bg2">
                        <a:lumMod val="60000"/>
                        <a:lumOff val="40000"/>
                      </a:schemeClr>
                    </a:solidFill>
                  </a:tcPr>
                </a:tc>
                <a:tc>
                  <a:txBody>
                    <a:bodyPr/>
                    <a:lstStyle/>
                    <a:p>
                      <a:pPr>
                        <a:buNone/>
                      </a:pPr>
                      <a:r>
                        <a:rPr lang="en-IN"/>
                        <a:t>Week 9</a:t>
                      </a:r>
                    </a:p>
                  </a:txBody>
                  <a:tcPr anchor="ctr">
                    <a:solidFill>
                      <a:schemeClr val="bg2">
                        <a:lumMod val="60000"/>
                        <a:lumOff val="40000"/>
                      </a:schemeClr>
                    </a:solidFill>
                  </a:tcPr>
                </a:tc>
                <a:extLst>
                  <a:ext uri="{0D108BD9-81ED-4DB2-BD59-A6C34878D82A}">
                    <a16:rowId xmlns:a16="http://schemas.microsoft.com/office/drawing/2014/main" val="3508393024"/>
                  </a:ext>
                </a:extLst>
              </a:tr>
              <a:tr h="370840">
                <a:tc>
                  <a:txBody>
                    <a:bodyPr/>
                    <a:lstStyle/>
                    <a:p>
                      <a:pPr>
                        <a:buNone/>
                      </a:pPr>
                      <a:r>
                        <a:rPr lang="en-IN"/>
                        <a:t>Phase 6</a:t>
                      </a:r>
                    </a:p>
                  </a:txBody>
                  <a:tcPr anchor="ctr">
                    <a:solidFill>
                      <a:schemeClr val="bg2">
                        <a:lumMod val="60000"/>
                        <a:lumOff val="40000"/>
                      </a:schemeClr>
                    </a:solidFill>
                  </a:tcPr>
                </a:tc>
                <a:tc>
                  <a:txBody>
                    <a:bodyPr/>
                    <a:lstStyle/>
                    <a:p>
                      <a:pPr>
                        <a:buNone/>
                      </a:pPr>
                      <a:r>
                        <a:rPr lang="en-IN"/>
                        <a:t>Testing &amp; demo</a:t>
                      </a:r>
                    </a:p>
                  </a:txBody>
                  <a:tcPr anchor="ctr">
                    <a:solidFill>
                      <a:schemeClr val="bg2">
                        <a:lumMod val="60000"/>
                        <a:lumOff val="40000"/>
                      </a:schemeClr>
                    </a:solidFill>
                  </a:tcPr>
                </a:tc>
                <a:tc>
                  <a:txBody>
                    <a:bodyPr/>
                    <a:lstStyle/>
                    <a:p>
                      <a:pPr>
                        <a:buNone/>
                      </a:pPr>
                      <a:r>
                        <a:rPr lang="en-IN"/>
                        <a:t>Week 10</a:t>
                      </a:r>
                    </a:p>
                  </a:txBody>
                  <a:tcPr anchor="ctr">
                    <a:solidFill>
                      <a:schemeClr val="bg2">
                        <a:lumMod val="60000"/>
                        <a:lumOff val="40000"/>
                      </a:schemeClr>
                    </a:solidFill>
                  </a:tcPr>
                </a:tc>
                <a:extLst>
                  <a:ext uri="{0D108BD9-81ED-4DB2-BD59-A6C34878D82A}">
                    <a16:rowId xmlns:a16="http://schemas.microsoft.com/office/drawing/2014/main" val="2573641914"/>
                  </a:ext>
                </a:extLst>
              </a:tr>
              <a:tr h="370840">
                <a:tc>
                  <a:txBody>
                    <a:bodyPr/>
                    <a:lstStyle/>
                    <a:p>
                      <a:pPr>
                        <a:buNone/>
                      </a:pPr>
                      <a:r>
                        <a:rPr lang="en-IN"/>
                        <a:t>Phase 7</a:t>
                      </a:r>
                    </a:p>
                  </a:txBody>
                  <a:tcPr anchor="ctr">
                    <a:solidFill>
                      <a:schemeClr val="bg2">
                        <a:lumMod val="60000"/>
                        <a:lumOff val="40000"/>
                      </a:schemeClr>
                    </a:solidFill>
                  </a:tcPr>
                </a:tc>
                <a:tc>
                  <a:txBody>
                    <a:bodyPr/>
                    <a:lstStyle/>
                    <a:p>
                      <a:pPr>
                        <a:buNone/>
                      </a:pPr>
                      <a:r>
                        <a:rPr lang="en-IN"/>
                        <a:t>Documentation &amp; final review</a:t>
                      </a:r>
                    </a:p>
                  </a:txBody>
                  <a:tcPr anchor="ctr">
                    <a:solidFill>
                      <a:schemeClr val="bg2">
                        <a:lumMod val="60000"/>
                        <a:lumOff val="40000"/>
                      </a:schemeClr>
                    </a:solidFill>
                  </a:tcPr>
                </a:tc>
                <a:tc>
                  <a:txBody>
                    <a:bodyPr/>
                    <a:lstStyle/>
                    <a:p>
                      <a:pPr>
                        <a:buNone/>
                      </a:pPr>
                      <a:r>
                        <a:rPr lang="en-IN" dirty="0"/>
                        <a:t>Week 11–12</a:t>
                      </a:r>
                    </a:p>
                  </a:txBody>
                  <a:tcPr anchor="ctr">
                    <a:solidFill>
                      <a:schemeClr val="bg2">
                        <a:lumMod val="60000"/>
                        <a:lumOff val="40000"/>
                      </a:schemeClr>
                    </a:solidFill>
                  </a:tcPr>
                </a:tc>
                <a:extLst>
                  <a:ext uri="{0D108BD9-81ED-4DB2-BD59-A6C34878D82A}">
                    <a16:rowId xmlns:a16="http://schemas.microsoft.com/office/drawing/2014/main" val="413942543"/>
                  </a:ext>
                </a:extLst>
              </a:tr>
            </a:tbl>
          </a:graphicData>
        </a:graphic>
      </p:graphicFrame>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r>
              <a:rPr lang="en-US" dirty="0">
                <a:latin typeface="Calibri" panose="020F0502020204030204" pitchFamily="34" charset="0"/>
                <a:ea typeface="Calibri" panose="020F0502020204030204" pitchFamily="34" charset="0"/>
                <a:cs typeface="Calibri" panose="020F0502020204030204" pitchFamily="34" charset="0"/>
              </a:rPr>
              <a:t>“Deep Learning for Anomaly Detection: A Survey.”</a:t>
            </a:r>
            <a:br>
              <a:rPr lang="en-US" dirty="0">
                <a:latin typeface="Calibri" panose="020F0502020204030204" pitchFamily="34" charset="0"/>
                <a:ea typeface="Calibri" panose="020F0502020204030204" pitchFamily="34" charset="0"/>
                <a:cs typeface="Calibri" panose="020F0502020204030204" pitchFamily="34" charset="0"/>
              </a:rPr>
            </a:br>
            <a:r>
              <a:rPr lang="en-US" i="1" dirty="0">
                <a:latin typeface="Calibri" panose="020F0502020204030204" pitchFamily="34" charset="0"/>
                <a:ea typeface="Calibri" panose="020F0502020204030204" pitchFamily="34" charset="0"/>
                <a:cs typeface="Calibri" panose="020F0502020204030204" pitchFamily="34" charset="0"/>
              </a:rPr>
              <a:t>IEEE Access</a:t>
            </a:r>
            <a:r>
              <a:rPr lang="en-US" dirty="0">
                <a:latin typeface="Calibri" panose="020F0502020204030204" pitchFamily="34" charset="0"/>
                <a:ea typeface="Calibri" panose="020F0502020204030204" pitchFamily="34" charset="0"/>
                <a:cs typeface="Calibri" panose="020F0502020204030204" pitchFamily="34" charset="0"/>
              </a:rPr>
              <a:t>, vol. 7, pp. 36315–36333, 2019.DOI: 10.1109/ACCESS.2019.2896884</a:t>
            </a:r>
          </a:p>
          <a:p>
            <a:pPr marL="152400" indent="0">
              <a:spcBef>
                <a:spcPts val="0"/>
              </a:spcBef>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152400" indent="0">
              <a:spcBef>
                <a:spcPts val="0"/>
              </a:spcBef>
              <a:buNone/>
            </a:pPr>
            <a:r>
              <a:rPr lang="en-US" dirty="0"/>
              <a:t>“</a:t>
            </a:r>
            <a:r>
              <a:rPr lang="en-US" dirty="0">
                <a:latin typeface="Calibri" panose="020F0502020204030204" pitchFamily="34" charset="0"/>
                <a:ea typeface="Calibri" panose="020F0502020204030204" pitchFamily="34" charset="0"/>
                <a:cs typeface="Calibri" panose="020F0502020204030204" pitchFamily="34" charset="0"/>
              </a:rPr>
              <a:t>Outside the Closed World: On Using Machine Learning for Network Intrusion Detection.”</a:t>
            </a:r>
            <a:r>
              <a:rPr lang="en-US" i="1" dirty="0">
                <a:latin typeface="Calibri" panose="020F0502020204030204" pitchFamily="34" charset="0"/>
                <a:ea typeface="Calibri" panose="020F0502020204030204" pitchFamily="34" charset="0"/>
                <a:cs typeface="Calibri" panose="020F0502020204030204" pitchFamily="34" charset="0"/>
              </a:rPr>
              <a:t>IEEE Symposium on Security and Privacy</a:t>
            </a:r>
            <a:r>
              <a:rPr lang="en-US" dirty="0">
                <a:latin typeface="Calibri" panose="020F0502020204030204" pitchFamily="34" charset="0"/>
                <a:ea typeface="Calibri" panose="020F0502020204030204" pitchFamily="34" charset="0"/>
                <a:cs typeface="Calibri" panose="020F0502020204030204" pitchFamily="34" charset="0"/>
              </a:rPr>
              <a:t>, 2010.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TotalTime>
  <Words>520</Words>
  <Application>Microsoft Office PowerPoint</Application>
  <PresentationFormat>Widescreen</PresentationFormat>
  <Paragraphs>149</Paragraphs>
  <Slides>15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Bookman Old Style</vt:lpstr>
      <vt:lpstr>Calibri</vt:lpstr>
      <vt:lpstr>Cambria</vt:lpstr>
      <vt:lpstr>Verdana</vt:lpstr>
      <vt:lpstr>Wingdings</vt:lpstr>
      <vt:lpstr>Bioinformatics</vt:lpstr>
      <vt:lpstr>Transformer based end-to-end Web Application Firewall (WAF) pipeline</vt:lpstr>
      <vt:lpstr>Problem Statement Number: SIH25172 </vt:lpstr>
      <vt:lpstr>PowerPoint Presentation</vt:lpstr>
      <vt:lpstr>Problem Statement Number: SIH25172  </vt:lpstr>
      <vt:lpstr>Content</vt:lpstr>
      <vt:lpstr>Problem Statement</vt:lpstr>
      <vt:lpstr>Objectives</vt:lpstr>
      <vt:lpstr>Background and Related work </vt:lpstr>
      <vt:lpstr>Analysis of Problem Statement </vt:lpstr>
      <vt:lpstr>Architecture</vt:lpstr>
      <vt:lpstr>Innovation or Novel Contributions</vt:lpstr>
      <vt:lpstr>Github Link</vt:lpstr>
      <vt:lpstr>Timeline of the Project </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Karthikeya RS</cp:lastModifiedBy>
  <cp:revision>51</cp:revision>
  <dcterms:modified xsi:type="dcterms:W3CDTF">2026-01-13T17:31:47Z</dcterms:modified>
</cp:coreProperties>
</file>