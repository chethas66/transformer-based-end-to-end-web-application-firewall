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diagrams/layout1.xml" ContentType="application/vnd.openxmlformats-officedocument.drawingml.diagramLayout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330" y="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tableStyles" Target="tableStyle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project, understanding WAF and cybersecurity basics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survey, learning Transformer models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r>
            <a:rPr lang="en-US" dirty="0"/>
            <a:t>Data collection, preprocessing and initial model implementation.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F4101DD-F36C-4493-AC32-9F84CA0FC82F}">
      <dgm:prSet/>
      <dgm:spPr/>
      <dgm:t>
        <a:bodyPr/>
        <a:lstStyle/>
        <a:p>
          <a:r>
            <a:rPr lang="en-US" dirty="0">
              <a:latin typeface="New roman"/>
            </a:rPr>
            <a:t>Model training, testing and performance testing</a:t>
          </a:r>
          <a:endParaRPr lang="en-US" dirty="0"/>
        </a:p>
      </dgm:t>
    </dgm:pt>
    <dgm:pt modelId="{95760F80-FC50-400B-93B1-E108EFAFF1AB}" type="parTrans" cxnId="{E2096E4D-F10B-4BE4-B25F-D42C65E4B956}">
      <dgm:prSet/>
      <dgm:spPr/>
      <dgm:t>
        <a:bodyPr/>
        <a:lstStyle/>
        <a:p>
          <a:endParaRPr lang="en-US"/>
        </a:p>
      </dgm:t>
    </dgm:pt>
    <dgm:pt modelId="{3C43D9E2-C850-402C-AB32-D8E062DCE6BB}" type="sibTrans" cxnId="{E2096E4D-F10B-4BE4-B25F-D42C65E4B956}">
      <dgm:prSet/>
      <dgm:spPr/>
      <dgm:t>
        <a:bodyPr/>
        <a:lstStyle/>
        <a:p>
          <a:endParaRPr lang="en-US"/>
        </a:p>
      </dgm:t>
    </dgm:pt>
    <dgm:pt modelId="{69212C0B-B731-414C-A5EF-1341066E440F}">
      <dgm:prSet/>
      <dgm:spPr/>
      <dgm:t>
        <a:bodyPr/>
        <a:lstStyle/>
        <a:p>
          <a:r>
            <a:rPr lang="en-US">
              <a:latin typeface="New roman"/>
            </a:rPr>
            <a:t>Final system integration and documentation.</a:t>
          </a:r>
          <a:endParaRPr lang="en-US"/>
        </a:p>
      </dgm:t>
    </dgm:pt>
    <dgm:pt modelId="{2D67AED6-8B18-452F-AEF7-4515CBFCF1FF}" type="parTrans" cxnId="{9C5E1A58-58A9-4930-B29A-EEB733372104}">
      <dgm:prSet/>
      <dgm:spPr/>
      <dgm:t>
        <a:bodyPr/>
        <a:lstStyle/>
        <a:p>
          <a:endParaRPr lang="en-US"/>
        </a:p>
      </dgm:t>
    </dgm:pt>
    <dgm:pt modelId="{15EBB852-B934-424C-907B-54E024883CD1}" type="sibTrans" cxnId="{9C5E1A58-58A9-4930-B29A-EEB733372104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BAB0F117-4A11-45FB-83D4-B576509800CC}" type="presOf" srcId="{69212C0B-B731-414C-A5EF-1341066E440F}" destId="{928B615F-0F8D-4140-A638-0FBB8F5BF1E9}" srcOrd="1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7095145C-572A-4930-9DC5-ADB48326D08B}" type="presOf" srcId="{7F4101DD-F36C-4493-AC32-9F84CA0FC82F}" destId="{FC0F1314-3294-4A8C-8DCE-EB53E236164C}" srcOrd="0" destOrd="0" presId="urn:microsoft.com/office/officeart/2011/layout/InterconnectedBlockProcess"/>
    <dgm:cxn modelId="{E2096E4D-F10B-4BE4-B25F-D42C65E4B956}" srcId="{5E92505A-51E0-4F78-B3C5-704ACF8710DE}" destId="{7F4101DD-F36C-4493-AC32-9F84CA0FC82F}" srcOrd="0" destOrd="0" parTransId="{95760F80-FC50-400B-93B1-E108EFAFF1AB}" sibTransId="{3C43D9E2-C850-402C-AB32-D8E062DCE6BB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9C5E1A58-58A9-4930-B29A-EEB733372104}" srcId="{65C051F6-A849-4495-A964-CD4C650B9C06}" destId="{69212C0B-B731-414C-A5EF-1341066E440F}" srcOrd="0" destOrd="0" parTransId="{2D67AED6-8B18-452F-AEF7-4515CBFCF1FF}" sibTransId="{15EBB852-B934-424C-907B-54E024883CD1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C83E09A8-8A9A-439A-A012-E3AA73759194}" type="presOf" srcId="{69212C0B-B731-414C-A5EF-1341066E440F}" destId="{8CAE5A4D-0C7B-48A6-917B-0B8433D0574B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6F23CDED-0DFE-4C17-BE76-44A59388B5DD}" type="presOf" srcId="{7F4101DD-F36C-4493-AC32-9F84CA0FC82F}" destId="{98225A61-A0EC-450A-BED8-EF2E47E8FD18}" srcOrd="1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New roman"/>
            </a:rPr>
            <a:t>Final system integration and documentation.</a:t>
          </a:r>
          <a:endParaRPr lang="en-US" sz="1200" kern="1200"/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New roman"/>
            </a:rPr>
            <a:t>Model training, testing and performance testing</a:t>
          </a:r>
          <a:endParaRPr lang="en-US" sz="1200" kern="1200" dirty="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collection, preprocessing and initial model implementation.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survey, learning Transformer models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project, understanding WAF and cybersecurity basics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GB"/>
          </a:p>
        </p:txBody>
      </p:sp>
      <p:sp>
        <p:nvSpPr>
          <p:cNvPr id="104871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04/03/2026</a:t>
            </a:fld>
            <a:endParaRPr dirty="0" lang="en-GB"/>
          </a:p>
        </p:txBody>
      </p:sp>
      <p:sp>
        <p:nvSpPr>
          <p:cNvPr id="104871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dirty="0" lang="en-GB"/>
          </a:p>
        </p:txBody>
      </p:sp>
      <p:sp>
        <p:nvSpPr>
          <p:cNvPr id="104871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71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GB"/>
          </a:p>
        </p:txBody>
      </p:sp>
      <p:sp>
        <p:nvSpPr>
          <p:cNvPr id="104871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dirty="0" lang="en-GB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1" name="Google Shape;85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0" name="Google Shape;94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66083A-C1B7-4B46-82C5-289BB6E6D5A4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Click to edit Master title style</a:t>
            </a:r>
            <a:endParaRPr dirty="0" lang="en-IN"/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IN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5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B3E8F52-857A-4C89-954C-57943DB51290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BBD7B4D-DDD6-4CA2-87A0-9BDD5E5268EC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30D9E5-0635-43A8-8973-488E7408FAF7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70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70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6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1D0CEA8-D591-4CC9-939A-A3BE6FD93E89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66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6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2BE2297-DC8B-48E6-B6D6-34773F9A5984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70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70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4C2A547-6E4B-4188-9BD5-035CB9C4BCC5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7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7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7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dirty="0" lang="en-IN"/>
          </a:p>
        </p:txBody>
      </p:sp>
      <p:sp>
        <p:nvSpPr>
          <p:cNvPr id="104867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2706E29-16A1-4AAE-B55B-4E3DB7265605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67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7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FC26915-BE00-456E-A9CA-DB9FE1FD674A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6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6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AA2D233-408A-4415-B919-B7ECAA5043E2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67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04-03-2026</a:t>
            </a:fld>
            <a:endParaRPr dirty="0"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dirty="0"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0" hdr="0" sldNum="1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6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cap="none" dirty="0" sz="2000" i="0" lang="en-GB" strike="noStrike" u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 indent="0" lvl="0" marL="0" marR="0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b="1" cap="none" dirty="0" sz="2000" i="0" strike="noStrike" u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b="1" dirty="0" lang="en-US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BAILAPPA BHOVI</a:t>
            </a:r>
            <a:endParaRPr dirty="0"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b="1" dirty="0" lang="en-US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b="1" dirty="0" lang="en-US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b="1" dirty="0" lang="en-US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 indent="0" lvl="0" marL="0" marR="0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b="1" cap="none" dirty="0" sz="2000" i="0" strike="noStrike" u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048587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>
              <a:buClr>
                <a:srgbClr val="17365D"/>
              </a:buClr>
              <a:buSzPct val="100000"/>
            </a:pPr>
            <a:r>
              <a:rPr b="1" cap="none" dirty="0" sz="2000" i="0" lang="en-US" strike="noStrike" u="none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b="1" dirty="0" sz="2000" lang="en-US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CDV-Computer Science &amp; Technology (DEVOPS)</a:t>
            </a:r>
            <a:endParaRPr b="1" cap="none" dirty="0" sz="2000" i="0" lang="en-US" strike="noStrike" u="none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b="1" dirty="0" sz="2000" lang="en-US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Pravinthraja S </a:t>
            </a:r>
          </a:p>
          <a:p>
            <a:pPr lvl="0">
              <a:buClr>
                <a:srgbClr val="17365D"/>
              </a:buClr>
              <a:buSzPct val="100000"/>
            </a:pPr>
            <a:r>
              <a:rPr b="1" cap="none" dirty="0" sz="2000" i="0" lang="en-US" strike="noStrike" u="none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b="1" dirty="0" sz="2000" lang="en-US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H M Manjula</a:t>
            </a:r>
            <a:endParaRPr b="1" cap="none" dirty="0" sz="2000" i="0" lang="en-US" strike="noStrike" u="none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b="1" dirty="0" sz="2000" lang="en-US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b="1" dirty="0" sz="2000" lang="en-US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</a:t>
            </a:r>
          </a:p>
          <a:p>
            <a:pPr lvl="0">
              <a:buClr>
                <a:srgbClr val="17365D"/>
              </a:buClr>
              <a:buSzPct val="100000"/>
            </a:pPr>
            <a:r>
              <a:rPr b="1" dirty="0" sz="2000" lang="en-US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b="1" cap="none" dirty="0" sz="2000" i="0" strike="noStrike" u="none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048588" name="Title 1"/>
          <p:cNvSpPr txBox="1"/>
          <p:nvPr/>
        </p:nvSpPr>
        <p:spPr>
          <a:xfrm>
            <a:off x="838200" y="130629"/>
            <a:ext cx="10515600" cy="15600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def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b="1" cap="none" sz="2800" i="0" strike="noStrike" u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altLang="en-US" dirty="0" lang="en-US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altLang="en-US" dirty="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PROJECT</a:t>
            </a:r>
            <a:br>
              <a:rPr dirty="0" lang="en-I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2400" lang="en-US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dirty="0" sz="2400" lang="en-US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b="0" dirty="0" sz="2400" lang="en-US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based end-to-end Web Application Firewall (WAF) pipeline</a:t>
            </a:r>
            <a:br>
              <a:rPr dirty="0" sz="2400" lang="en-US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br>
              <a:rPr dirty="0" sz="2400" lang="en-US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Rectangle 1"/>
          <p:cNvSpPr/>
          <p:nvPr/>
        </p:nvSpPr>
        <p:spPr>
          <a:xfrm>
            <a:off x="1150172" y="1690689"/>
            <a:ext cx="2576532" cy="358141"/>
          </a:xfrm>
          <a:prstGeom prst="rect"/>
        </p:spPr>
        <p:txBody>
          <a:bodyPr wrap="none">
            <a:spAutoFit/>
          </a:bodyPr>
          <a:p>
            <a:pPr lvl="0">
              <a:buClr>
                <a:srgbClr val="17365D"/>
              </a:buClr>
              <a:buSzPts val="2000"/>
            </a:pPr>
            <a:r>
              <a:rPr dirty="0" lang="en-GB">
                <a:latin typeface="Cambria" panose="02040503050406030204" pitchFamily="18" charset="0"/>
                <a:ea typeface="Cambria" panose="02040503050406030204" pitchFamily="18" charset="0"/>
              </a:rPr>
              <a:t>Batch Number: CDV_14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405713" y="1813312"/>
          <a:ext cx="5418675" cy="18288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p>
                      <a:pPr algn="ctr" indent="0" lvl="1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cap="none" dirty="0" sz="1800" lang="en-GB" strike="noStrike" u="none">
                        <a:solidFill>
                          <a:srgbClr val="17365D"/>
                        </a:solidFill>
                      </a:endParaRPr>
                    </a:p>
                    <a:p>
                      <a:pPr algn="ctr" indent="0" lvl="1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cap="none" dirty="0" sz="1800" lang="en-GB" strike="noStrike" u="none">
                        <a:solidFill>
                          <a:srgbClr val="17365D"/>
                        </a:solidFill>
                      </a:endParaRPr>
                    </a:p>
                    <a:p>
                      <a:pPr algn="ctr" indent="0" lvl="1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800" lang="en-GB" strike="noStrike" u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b="1" cap="none" dirty="0" sz="1800" strike="noStrike" u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cap="none" dirty="0" sz="1800" lang="en-GB" strike="noStrike" u="none">
                        <a:solidFill>
                          <a:srgbClr val="17365D"/>
                        </a:solidFill>
                      </a:endParaRPr>
                    </a:p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cap="none" dirty="0" sz="1800" lang="en-GB" strike="noStrike" u="none">
                        <a:solidFill>
                          <a:srgbClr val="17365D"/>
                        </a:solidFill>
                      </a:endParaRPr>
                    </a:p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800" lang="en-GB" strike="noStrike" u="none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cap="none" dirty="0" sz="1800" lang="en-US" strike="noStrike" u="none"/>
                        <a:t>20211CDV0062</a:t>
                      </a:r>
                    </a:p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cap="none" dirty="0" sz="1800" lang="en-US" strike="noStrike" u="none"/>
                        <a:t>20221CDV0050</a:t>
                      </a:r>
                    </a:p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cap="none" dirty="0" sz="1800" lang="en-US" strike="noStrike" u="none"/>
                        <a:t>20211CDV0024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800" lang="en-US" strike="noStrike" u="none"/>
                        <a:t>CHETHAS R</a:t>
                      </a:r>
                    </a:p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800" lang="en-US" strike="noStrike" u="none"/>
                        <a:t>VARSHITH R S</a:t>
                      </a:r>
                    </a:p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800" lang="en-US" strike="noStrike" u="none"/>
                        <a:t>ABDUL KALAM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dirty="0"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98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dirty="0" sz="2000"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dirty="0" sz="2000"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</a:t>
            </a:r>
            <a:r>
              <a:rPr altLang="en-GB" b="1" dirty="0" sz="20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altLang="en-GB" b="1" dirty="0" sz="20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altLang="en-GB" b="1" dirty="0" sz="20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altLang="en-GB" b="1" dirty="0" sz="20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altLang="en-GB" b="1" dirty="0" sz="20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altLang="en-GB" b="1" dirty="0" sz="20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altLang="en-GB" b="1" dirty="0" sz="20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dirty="0" sz="2000"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algn="just" indent="-342900" marL="4953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b="1" dirty="0" sz="20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dirty="0" sz="2000"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indent="-342900" lvl="0" marL="495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603421" y="305110"/>
            <a:ext cx="10515600" cy="679904"/>
          </a:xfrm>
        </p:spPr>
        <p:txBody>
          <a:bodyPr/>
          <a:p>
            <a:r>
              <a:rPr b="1" dirty="0" sz="320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603421" y="1574094"/>
            <a:ext cx="10515600" cy="4193176"/>
          </a:xfrm>
        </p:spPr>
        <p:txBody>
          <a:bodyPr>
            <a:normAutofit fontScale="82143" lnSpcReduction="10000"/>
          </a:bodyPr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 organization is a technology-driven company working in the field of </a:t>
            </a:r>
            <a:r>
              <a:rPr altLang="en-US" b="1" dirty="0" lang="en-US">
                <a:latin typeface="New roman"/>
              </a:rPr>
              <a:t>software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dirty="0" lang="en-US">
                <a:latin typeface="New roman"/>
              </a:rPr>
              <a:t>development and cybersecurity</a:t>
            </a:r>
            <a:r>
              <a:rPr altLang="en-US" dirty="0" lang="en-US">
                <a:latin typeface="New roman"/>
              </a:rPr>
              <a:t>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It focuses on building </a:t>
            </a:r>
            <a:r>
              <a:rPr altLang="en-US" b="1" dirty="0" lang="en-US">
                <a:latin typeface="New roman"/>
              </a:rPr>
              <a:t>secure, scalable, and reliable web applications</a:t>
            </a:r>
            <a:r>
              <a:rPr altLang="en-US" dirty="0" lang="en-US">
                <a:latin typeface="New roman"/>
              </a:rPr>
              <a:t> and digital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solutions.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 company uses modern technologies such as </a:t>
            </a:r>
            <a:r>
              <a:rPr altLang="en-US" b="1" dirty="0" lang="en-US">
                <a:latin typeface="New roman"/>
              </a:rPr>
              <a:t>cloud computing,  machine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dirty="0" lang="en-US">
                <a:latin typeface="New roman"/>
              </a:rPr>
              <a:t>learning, and  web security tools</a:t>
            </a:r>
            <a:r>
              <a:rPr altLang="en-US" dirty="0" lang="en-US">
                <a:latin typeface="New roman"/>
              </a:rPr>
              <a:t>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It promotes </a:t>
            </a:r>
            <a:r>
              <a:rPr altLang="en-US" b="1" dirty="0" lang="en-US">
                <a:latin typeface="New roman"/>
              </a:rPr>
              <a:t>research-based development</a:t>
            </a:r>
            <a:r>
              <a:rPr altLang="en-US" dirty="0" lang="en-US">
                <a:latin typeface="New roman"/>
              </a:rPr>
              <a:t> and practical implementation of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security solutions.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 work culture encourages </a:t>
            </a:r>
            <a:r>
              <a:rPr altLang="en-US" b="1" dirty="0" lang="en-US">
                <a:latin typeface="New roman"/>
              </a:rPr>
              <a:t>learning, innovation, and teamwork</a:t>
            </a:r>
            <a:r>
              <a:rPr altLang="en-US" dirty="0" lang="en-US">
                <a:latin typeface="New roman"/>
              </a:rPr>
              <a:t> to solve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real-world problems.</a:t>
            </a: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3</a:t>
            </a:fld>
            <a:endParaRPr altLang="en-US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Domain:</a:t>
            </a:r>
            <a:r>
              <a:rPr altLang="en-US" dirty="0" lang="en-US">
                <a:latin typeface="New roman"/>
              </a:rPr>
              <a:t> Cybersecurity and Web Application Security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Core Focus:</a:t>
            </a:r>
            <a:r>
              <a:rPr altLang="en-US" dirty="0" lang="en-US">
                <a:latin typeface="New roman"/>
              </a:rPr>
              <a:t> Web Application Firewall (WAF) using Deep Learning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Technologies Used: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Machine Learning &amp; Deep Learning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Transformer Models (Attention-based Neural Networks)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Python Programming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HTTP/HTTPS Traffic Analysis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Basic Web Security Concepts (SQL Injection, XSS, etc.)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Purpose:</a:t>
            </a:r>
            <a:r>
              <a:rPr altLang="en-US" dirty="0" lang="en-US">
                <a:latin typeface="New roman"/>
              </a:rPr>
              <a:t> To build an intelligent system that detects and blocks malicious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web requests in real time.</a:t>
            </a:r>
          </a:p>
        </p:txBody>
      </p:sp>
      <p:sp>
        <p:nvSpPr>
          <p:cNvPr id="104860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4</a:t>
            </a:fld>
            <a:endParaRPr altLang="en-US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857" lnSpcReduction="10000"/>
          </a:bodyPr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Our team consisted of </a:t>
            </a:r>
            <a:r>
              <a:rPr altLang="en-US" b="1" dirty="0" lang="en-US">
                <a:latin typeface="New roman"/>
              </a:rPr>
              <a:t>3 members</a:t>
            </a:r>
            <a:r>
              <a:rPr altLang="en-US" dirty="0" lang="en-US">
                <a:latin typeface="New roman"/>
              </a:rPr>
              <a:t> working together on the project.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 team was involved in </a:t>
            </a:r>
            <a:r>
              <a:rPr altLang="en-US" b="1" dirty="0" lang="en-US">
                <a:latin typeface="New roman"/>
              </a:rPr>
              <a:t>design, development, and testing</a:t>
            </a:r>
            <a:r>
              <a:rPr altLang="en-US" dirty="0" lang="en-US">
                <a:latin typeface="New roman"/>
              </a:rPr>
              <a:t> of the system.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We had </a:t>
            </a:r>
            <a:r>
              <a:rPr altLang="en-US" b="1" dirty="0" lang="en-US">
                <a:latin typeface="New roman"/>
              </a:rPr>
              <a:t>guide</a:t>
            </a:r>
            <a:r>
              <a:rPr altLang="en-US" dirty="0" lang="en-US">
                <a:latin typeface="New roman"/>
              </a:rPr>
              <a:t> who guided us throughout the internship.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 guide provided </a:t>
            </a:r>
            <a:r>
              <a:rPr altLang="en-US" b="1" dirty="0" lang="en-US">
                <a:latin typeface="New roman"/>
              </a:rPr>
              <a:t>technical guidance, reviews, and feedback</a:t>
            </a:r>
            <a:r>
              <a:rPr altLang="en-US" dirty="0" lang="en-US">
                <a:latin typeface="New roman"/>
              </a:rPr>
              <a:t> at each stage of the project.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Regular discussions and reviews helped us </a:t>
            </a:r>
            <a:r>
              <a:rPr altLang="en-US" b="1" dirty="0" lang="en-US">
                <a:latin typeface="New roman"/>
              </a:rPr>
              <a:t>improve the quality and correctness</a:t>
            </a:r>
            <a:r>
              <a:rPr altLang="en-US" dirty="0" lang="en-US">
                <a:latin typeface="New roman"/>
              </a:rPr>
              <a:t> of</a:t>
            </a:r>
            <a:r>
              <a:rPr dirty="0" lang="en-IN"/>
              <a:t> the work.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dirty="0" lang="en-US"/>
              <a:t>The team environment encouraged </a:t>
            </a:r>
            <a:r>
              <a:rPr b="1" dirty="0" lang="en-US"/>
              <a:t>learning, teamwork, and practical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b="1" dirty="0" lang="en-US"/>
              <a:t>problem-solving</a:t>
            </a:r>
            <a:r>
              <a:rPr dirty="0" lang="en-US"/>
              <a:t>.</a:t>
            </a:r>
            <a:endParaRPr altLang="en-US" dirty="0" lang="en-US">
              <a:latin typeface="New roman"/>
            </a:endParaRPr>
          </a:p>
        </p:txBody>
      </p:sp>
      <p:sp>
        <p:nvSpPr>
          <p:cNvPr id="104860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5</a:t>
            </a:fld>
            <a:endParaRPr altLang="en-US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</a:t>
            </a:r>
            <a:r>
              <a:rPr altLang="en-GB" b="1" dirty="0" sz="32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altLang="en-GB" b="1" dirty="0" sz="32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altLang="en-GB" b="1" dirty="0" sz="32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altLang="en-GB" b="1" dirty="0" sz="32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altLang="en-GB" b="1" dirty="0" sz="32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altLang="en-GB" b="1" dirty="0" sz="32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altLang="en-GB" b="1" dirty="0" sz="3200"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altLang="en-US" lang="zh-CN"/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>
          <a:xfrm>
            <a:off x="755822" y="1399903"/>
            <a:ext cx="10515600" cy="4058194"/>
          </a:xfrm>
        </p:spPr>
        <p:txBody>
          <a:bodyPr/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Understanding </a:t>
            </a:r>
            <a:r>
              <a:rPr altLang="en-US" b="1" dirty="0" lang="en-US">
                <a:latin typeface="New roman"/>
              </a:rPr>
              <a:t>cybersecurity and Web Application Firewall (WAF)</a:t>
            </a:r>
            <a:r>
              <a:rPr altLang="en-US" dirty="0" lang="en-US">
                <a:latin typeface="New roman"/>
              </a:rPr>
              <a:t> concepts initially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Learning and applying </a:t>
            </a:r>
            <a:r>
              <a:rPr altLang="en-US" b="1" dirty="0" lang="en-US">
                <a:latin typeface="New roman"/>
              </a:rPr>
              <a:t>Transformer and deep learning models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Collecting and preprocessing</a:t>
            </a:r>
            <a:r>
              <a:rPr altLang="en-US" dirty="0" lang="en-US">
                <a:latin typeface="New roman"/>
              </a:rPr>
              <a:t> HTTP request data for training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Limited availability of </a:t>
            </a:r>
            <a:r>
              <a:rPr altLang="en-US" b="1" dirty="0" lang="en-US">
                <a:latin typeface="New roman"/>
              </a:rPr>
              <a:t>real-world labeled datasets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Debugging model performance</a:t>
            </a:r>
            <a:r>
              <a:rPr altLang="en-US" dirty="0" lang="en-US">
                <a:latin typeface="New roman"/>
              </a:rPr>
              <a:t> and reducing false positives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Managing </a:t>
            </a:r>
            <a:r>
              <a:rPr altLang="en-US" b="1" dirty="0" lang="en-US">
                <a:latin typeface="New roman"/>
              </a:rPr>
              <a:t>time between learning, development, and documentation</a:t>
            </a:r>
            <a:endParaRPr altLang="en-US" dirty="0" lang="en-US">
              <a:latin typeface="New roman"/>
            </a:endParaRPr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6</a:t>
            </a:fld>
            <a:endParaRPr altLang="en-US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p>
            <a:r>
              <a:rPr dirty="0" lang="en-US">
                <a:latin typeface="New roman"/>
              </a:rPr>
              <a:t>To study existing </a:t>
            </a:r>
            <a:r>
              <a:rPr b="1" dirty="0" lang="en-US">
                <a:latin typeface="New roman"/>
              </a:rPr>
              <a:t>Web Application Firewall (WAF)</a:t>
            </a:r>
            <a:r>
              <a:rPr dirty="0" lang="en-US">
                <a:latin typeface="New roman"/>
              </a:rPr>
              <a:t> techniques</a:t>
            </a:r>
          </a:p>
          <a:p>
            <a:r>
              <a:rPr dirty="0" lang="en-US">
                <a:latin typeface="New roman"/>
              </a:rPr>
              <a:t>To understand the use of </a:t>
            </a:r>
            <a:r>
              <a:rPr b="1" dirty="0" lang="en-US">
                <a:latin typeface="New roman"/>
              </a:rPr>
              <a:t>Machine Learning and Transformer models</a:t>
            </a:r>
            <a:r>
              <a:rPr dirty="0" lang="en-US">
                <a:latin typeface="New roman"/>
              </a:rPr>
              <a:t> in cybersecurity</a:t>
            </a:r>
          </a:p>
          <a:p>
            <a:r>
              <a:rPr dirty="0" lang="en-US">
                <a:latin typeface="New roman"/>
              </a:rPr>
              <a:t>To design an </a:t>
            </a:r>
            <a:r>
              <a:rPr b="1" dirty="0" lang="en-US">
                <a:latin typeface="New roman"/>
              </a:rPr>
              <a:t>end-to-end WAF pipeline</a:t>
            </a:r>
            <a:r>
              <a:rPr dirty="0" lang="en-US">
                <a:latin typeface="New roman"/>
              </a:rPr>
              <a:t> using deep learning</a:t>
            </a:r>
          </a:p>
          <a:p>
            <a:r>
              <a:rPr dirty="0" lang="en-US">
                <a:latin typeface="New roman"/>
              </a:rPr>
              <a:t>To detect common web attacks such as </a:t>
            </a:r>
            <a:r>
              <a:rPr b="1" dirty="0" lang="en-US">
                <a:latin typeface="New roman"/>
              </a:rPr>
              <a:t>SQL Injection and XSS</a:t>
            </a:r>
            <a:endParaRPr dirty="0" lang="en-US">
              <a:latin typeface="New roman"/>
            </a:endParaRPr>
          </a:p>
          <a:p>
            <a:r>
              <a:rPr dirty="0" lang="en-US">
                <a:latin typeface="New roman"/>
              </a:rPr>
              <a:t>To improve </a:t>
            </a:r>
            <a:r>
              <a:rPr b="1" dirty="0" lang="en-US">
                <a:latin typeface="New roman"/>
              </a:rPr>
              <a:t>detection accuracy</a:t>
            </a:r>
            <a:r>
              <a:rPr dirty="0" lang="en-US">
                <a:latin typeface="New roman"/>
              </a:rPr>
              <a:t> compared to traditional methods</a:t>
            </a:r>
          </a:p>
          <a:p>
            <a:r>
              <a:rPr dirty="0" lang="en-US">
                <a:latin typeface="New roman"/>
              </a:rPr>
              <a:t>To build a </a:t>
            </a:r>
            <a:r>
              <a:rPr b="1" dirty="0" lang="en-US">
                <a:latin typeface="New roman"/>
              </a:rPr>
              <a:t>working prototype</a:t>
            </a:r>
            <a:r>
              <a:rPr dirty="0" lang="en-US">
                <a:latin typeface="New roman"/>
              </a:rPr>
              <a:t> of the proposed system</a:t>
            </a:r>
          </a:p>
        </p:txBody>
      </p:sp>
      <p:sp>
        <p:nvSpPr>
          <p:cNvPr id="10486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7</a:t>
            </a:fld>
            <a:endParaRPr altLang="en-US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pPr algn="just" marL="152400">
              <a:lnSpc>
                <a:spcPct val="100000"/>
              </a:lnSpc>
              <a:spcBef>
                <a:spcPts val="0"/>
              </a:spcBef>
            </a:pPr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714633" y="1184366"/>
            <a:ext cx="10515600" cy="4058194"/>
          </a:xfrm>
        </p:spPr>
        <p:txBody>
          <a:bodyPr>
            <a:normAutofit fontScale="82143" lnSpcReduction="20000"/>
          </a:bodyPr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Traditional Web Application Firewalls (WAFs) mainly use </a:t>
            </a:r>
            <a:r>
              <a:rPr altLang="en-US" b="1" dirty="0" lang="en-US">
                <a:latin typeface="New roman"/>
              </a:rPr>
              <a:t>rule-based and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dirty="0" lang="en-US">
                <a:latin typeface="New roman"/>
              </a:rPr>
              <a:t>signature-based</a:t>
            </a:r>
            <a:r>
              <a:rPr altLang="en-US" dirty="0" lang="en-US">
                <a:latin typeface="New roman"/>
              </a:rPr>
              <a:t> methods, which work well for known attacks but fail against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 </a:t>
            </a:r>
            <a:r>
              <a:rPr altLang="en-US" b="1" dirty="0" lang="en-US">
                <a:latin typeface="New roman"/>
              </a:rPr>
              <a:t>new and obfuscated attacks</a:t>
            </a:r>
            <a:r>
              <a:rPr altLang="en-US" dirty="0" lang="en-US">
                <a:latin typeface="New roman"/>
              </a:rPr>
              <a:t>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Machine Learning approaches were introduced to improve detection, but they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depend heavily on </a:t>
            </a:r>
            <a:r>
              <a:rPr altLang="en-US" b="1" dirty="0" lang="en-US">
                <a:latin typeface="New roman"/>
              </a:rPr>
              <a:t>manual feature extraction</a:t>
            </a:r>
            <a:r>
              <a:rPr altLang="en-US" dirty="0" lang="en-US">
                <a:latin typeface="New roman"/>
              </a:rPr>
              <a:t> and labeled data.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Recent research uses </a:t>
            </a:r>
            <a:r>
              <a:rPr altLang="en-US" b="1" dirty="0" lang="en-US">
                <a:latin typeface="New roman"/>
              </a:rPr>
              <a:t>Deep Learning models</a:t>
            </a:r>
            <a:r>
              <a:rPr altLang="en-US" dirty="0" lang="en-US">
                <a:latin typeface="New roman"/>
              </a:rPr>
              <a:t> such as CNNs, RNNs, and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dirty="0" lang="en-US">
                <a:latin typeface="New roman"/>
              </a:rPr>
              <a:t>Transformer models</a:t>
            </a:r>
            <a:r>
              <a:rPr altLang="en-US" dirty="0" lang="en-US">
                <a:latin typeface="New roman"/>
              </a:rPr>
              <a:t> by treating HTTP requests as text sequences.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Transformer-based models are effective because they can </a:t>
            </a:r>
            <a:r>
              <a:rPr altLang="en-US" b="1" dirty="0" lang="en-US">
                <a:latin typeface="New roman"/>
              </a:rPr>
              <a:t>capture contextual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dirty="0" lang="en-US">
                <a:latin typeface="New roman"/>
              </a:rPr>
              <a:t>and long-range dependencies</a:t>
            </a:r>
            <a:r>
              <a:rPr altLang="en-US" dirty="0" lang="en-US">
                <a:latin typeface="New roman"/>
              </a:rPr>
              <a:t> in request data.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Studies show better detection accuracy using deep learning, but most works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 focus only on </a:t>
            </a:r>
            <a:r>
              <a:rPr altLang="en-US" b="1" dirty="0" lang="en-US">
                <a:latin typeface="New roman"/>
              </a:rPr>
              <a:t>offline experiments</a:t>
            </a:r>
            <a:r>
              <a:rPr altLang="en-US" dirty="0" lang="en-US">
                <a:latin typeface="New roman"/>
              </a:rPr>
              <a:t> and not real deployment.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8</a:t>
            </a:fld>
            <a:endParaRPr altLang="en-US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>
                <a:solidFill>
                  <a:schemeClr val="accent1"/>
                </a:solidFill>
                <a:latin typeface="New roman"/>
              </a:rPr>
              <a:t>Research Gap</a:t>
            </a:r>
            <a:endParaRPr dirty="0" lang="en-US"/>
          </a:p>
        </p:txBody>
      </p:sp>
      <p:sp>
        <p:nvSpPr>
          <p:cNvPr id="1048620" name="Content Placeholder 2"/>
          <p:cNvSpPr>
            <a:spLocks noGrp="1"/>
          </p:cNvSpPr>
          <p:nvPr>
            <p:ph idx="1"/>
          </p:nvPr>
        </p:nvSpPr>
        <p:spPr>
          <a:xfrm>
            <a:off x="829962" y="1690688"/>
            <a:ext cx="10515600" cy="4351338"/>
          </a:xfrm>
        </p:spPr>
        <p:txBody>
          <a:bodyPr/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Lack of a </a:t>
            </a:r>
            <a:r>
              <a:rPr altLang="en-US" b="1" dirty="0" lang="en-US">
                <a:latin typeface="New roman"/>
              </a:rPr>
              <a:t>complete end-to-end WAF pipeline</a:t>
            </a:r>
            <a:r>
              <a:rPr altLang="en-US" dirty="0" lang="en-US">
                <a:latin typeface="New roman"/>
              </a:rPr>
              <a:t> using Transformers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Most studies do not consider </a:t>
            </a:r>
            <a:r>
              <a:rPr altLang="en-US" b="1" dirty="0" lang="en-US">
                <a:latin typeface="New roman"/>
              </a:rPr>
              <a:t>real-time performance and latency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No standard dataset</a:t>
            </a:r>
            <a:r>
              <a:rPr altLang="en-US" dirty="0" lang="en-US">
                <a:latin typeface="New roman"/>
              </a:rPr>
              <a:t> for evaluating Transformer-based WAF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systems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Limited work on </a:t>
            </a:r>
            <a:r>
              <a:rPr altLang="en-US" b="1" dirty="0" lang="en-US">
                <a:latin typeface="New roman"/>
              </a:rPr>
              <a:t>handling obfuscated and adversarial attacks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Poor explain ability</a:t>
            </a:r>
            <a:r>
              <a:rPr altLang="en-US" dirty="0" lang="en-US">
                <a:latin typeface="New roman"/>
              </a:rPr>
              <a:t> of model decisions for security analysts</a:t>
            </a:r>
          </a:p>
          <a:p>
            <a:endParaRPr dirty="0" lang="en-US"/>
          </a:p>
        </p:txBody>
      </p:sp>
      <p:sp>
        <p:nvSpPr>
          <p:cNvPr id="10486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  <a:t>3/4/2026</a:t>
            </a:fld>
            <a:endParaRPr dirty="0" lang="en-IN"/>
          </a:p>
        </p:txBody>
      </p:sp>
      <p:sp>
        <p:nvSpPr>
          <p:cNvPr id="10486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9</a:t>
            </a:fld>
            <a:endParaRPr dirty="0"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>
                <a:solidFill>
                  <a:schemeClr val="accent1"/>
                </a:solidFill>
              </a:rPr>
              <a:t>Proposed Solutions</a:t>
            </a:r>
            <a:endParaRPr dirty="0" lang="en-US"/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>
            <a:off x="640492" y="1516706"/>
            <a:ext cx="10515600" cy="4351338"/>
          </a:xfrm>
        </p:spPr>
        <p:txBody>
          <a:bodyPr>
            <a:normAutofit fontScale="96429"/>
          </a:bodyPr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Design an </a:t>
            </a:r>
            <a:r>
              <a:rPr altLang="en-US" b="1" dirty="0" lang="en-US">
                <a:latin typeface="New roman"/>
              </a:rPr>
              <a:t>end-to-end Transformer-based WAF pipeline</a:t>
            </a:r>
            <a:r>
              <a:rPr altLang="en-US" dirty="0" lang="en-US">
                <a:latin typeface="New roman"/>
              </a:rPr>
              <a:t> from data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input to decision making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Use </a:t>
            </a:r>
            <a:r>
              <a:rPr altLang="en-US" b="1" dirty="0" lang="en-US">
                <a:latin typeface="New roman"/>
              </a:rPr>
              <a:t>optimized and lightweight Transformer models</a:t>
            </a:r>
            <a:r>
              <a:rPr altLang="en-US" dirty="0" lang="en-US">
                <a:latin typeface="New roman"/>
              </a:rPr>
              <a:t> for faster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 real-time detection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Build or combine datasets with </a:t>
            </a:r>
            <a:r>
              <a:rPr altLang="en-US" b="1" dirty="0" lang="en-US">
                <a:latin typeface="New roman"/>
              </a:rPr>
              <a:t>realistic normal and attack traffic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Apply </a:t>
            </a:r>
            <a:r>
              <a:rPr altLang="en-US" b="1" dirty="0" lang="en-US">
                <a:latin typeface="New roman"/>
              </a:rPr>
              <a:t>data augmentation and adversarial training</a:t>
            </a:r>
            <a:r>
              <a:rPr altLang="en-US" dirty="0" lang="en-US">
                <a:latin typeface="New roman"/>
              </a:rPr>
              <a:t> to improve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robustness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Add </a:t>
            </a:r>
            <a:r>
              <a:rPr altLang="en-US" b="1" dirty="0" lang="en-US">
                <a:latin typeface="New roman"/>
              </a:rPr>
              <a:t>explain ability methods</a:t>
            </a:r>
            <a:r>
              <a:rPr altLang="en-US" dirty="0" lang="en-US">
                <a:latin typeface="New roman"/>
              </a:rPr>
              <a:t> (highlight important parts of requests)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to help analysts understand alerts</a:t>
            </a:r>
          </a:p>
          <a:p>
            <a:endParaRPr dirty="0" lang="en-US"/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  <a:t>3/4/2026</a:t>
            </a:fld>
            <a:endParaRPr dirty="0" lang="en-IN"/>
          </a:p>
        </p:txBody>
      </p:sp>
      <p:sp>
        <p:nvSpPr>
          <p:cNvPr id="104862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10</a:t>
            </a:fld>
            <a:endParaRPr dirty="0"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pPr algn="just" marL="152400">
              <a:lnSpc>
                <a:spcPct val="100000"/>
              </a:lnSpc>
              <a:spcBef>
                <a:spcPts val="0"/>
              </a:spcBef>
            </a:pPr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 fontScale="96429"/>
          </a:bodyPr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 proposed system is a </a:t>
            </a:r>
            <a:r>
              <a:rPr altLang="en-US" b="1" dirty="0" lang="en-US">
                <a:latin typeface="New roman"/>
              </a:rPr>
              <a:t>Transformer-based end-to-end Web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dirty="0" lang="en-US">
                <a:latin typeface="New roman"/>
              </a:rPr>
              <a:t>Application Firewall (WAF)</a:t>
            </a:r>
            <a:r>
              <a:rPr altLang="en-US" dirty="0" lang="en-US">
                <a:latin typeface="New roman"/>
              </a:rPr>
              <a:t>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It analyzes </a:t>
            </a:r>
            <a:r>
              <a:rPr altLang="en-US" b="1" dirty="0" lang="en-US">
                <a:latin typeface="New roman"/>
              </a:rPr>
              <a:t>HTTP requests</a:t>
            </a:r>
            <a:r>
              <a:rPr altLang="en-US" dirty="0" lang="en-US">
                <a:latin typeface="New roman"/>
              </a:rPr>
              <a:t> from web applications in real time.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Requests are </a:t>
            </a:r>
            <a:r>
              <a:rPr altLang="en-US" b="1" dirty="0" lang="en-US">
                <a:latin typeface="New roman"/>
              </a:rPr>
              <a:t>preprocessed and tokenized</a:t>
            </a:r>
            <a:r>
              <a:rPr altLang="en-US" dirty="0" lang="en-US">
                <a:latin typeface="New roman"/>
              </a:rPr>
              <a:t> before being given to the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model.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A </a:t>
            </a:r>
            <a:r>
              <a:rPr altLang="en-US" b="1" dirty="0" lang="en-US">
                <a:latin typeface="New roman"/>
              </a:rPr>
              <a:t>Transformer deep learning model</a:t>
            </a:r>
            <a:r>
              <a:rPr altLang="en-US" dirty="0" lang="en-US">
                <a:latin typeface="New roman"/>
              </a:rPr>
              <a:t> classifies each request as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 </a:t>
            </a:r>
            <a:r>
              <a:rPr altLang="en-US" b="1" dirty="0" lang="en-US">
                <a:latin typeface="New roman"/>
              </a:rPr>
              <a:t>normal or malicious</a:t>
            </a:r>
            <a:r>
              <a:rPr altLang="en-US" dirty="0" lang="en-US">
                <a:latin typeface="New roman"/>
              </a:rPr>
              <a:t>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Based on the prediction, the system </a:t>
            </a:r>
            <a:r>
              <a:rPr altLang="en-US" b="1" dirty="0" lang="en-US">
                <a:latin typeface="New roman"/>
              </a:rPr>
              <a:t>allows or blocks</a:t>
            </a:r>
            <a:r>
              <a:rPr altLang="en-US" dirty="0" lang="en-US">
                <a:latin typeface="New roman"/>
              </a:rPr>
              <a:t> the request.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All decisions are </a:t>
            </a:r>
            <a:r>
              <a:rPr altLang="en-US" b="1" dirty="0" lang="en-US">
                <a:latin typeface="New roman"/>
              </a:rPr>
              <a:t>logged</a:t>
            </a:r>
            <a:r>
              <a:rPr altLang="en-US" dirty="0" lang="en-US">
                <a:latin typeface="New roman"/>
              </a:rPr>
              <a:t> for monitoring and future improvement.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11</a:t>
            </a:fld>
            <a:endParaRPr altLang="en-US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pPr algn="just" marL="152400">
              <a:lnSpc>
                <a:spcPct val="100000"/>
              </a:lnSpc>
              <a:spcBef>
                <a:spcPts val="0"/>
              </a:spcBef>
            </a:pPr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631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857" lnSpcReduction="20000"/>
          </a:bodyPr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Traditional Web Application Firewalls (WAFs) rely mainly on </a:t>
            </a:r>
            <a:r>
              <a:rPr altLang="en-US" b="1" dirty="0" lang="en-US">
                <a:latin typeface="New roman"/>
              </a:rPr>
              <a:t>rule-based and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dirty="0" lang="en-US">
                <a:latin typeface="New roman"/>
              </a:rPr>
              <a:t> signature-based</a:t>
            </a:r>
            <a:r>
              <a:rPr altLang="en-US" dirty="0" lang="en-US">
                <a:latin typeface="New roman"/>
              </a:rPr>
              <a:t> detection.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These methods are </a:t>
            </a:r>
            <a:r>
              <a:rPr altLang="en-US" b="1" dirty="0" lang="en-US">
                <a:latin typeface="New roman"/>
              </a:rPr>
              <a:t>difficult to maintain</a:t>
            </a:r>
            <a:r>
              <a:rPr altLang="en-US" dirty="0" lang="en-US">
                <a:latin typeface="New roman"/>
              </a:rPr>
              <a:t> and fail to detect </a:t>
            </a:r>
            <a:r>
              <a:rPr altLang="en-US" b="1" dirty="0" lang="en-US">
                <a:latin typeface="New roman"/>
              </a:rPr>
              <a:t>new or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dirty="0" lang="en-US">
                <a:latin typeface="New roman"/>
              </a:rPr>
              <a:t>obfuscated attacks</a:t>
            </a:r>
            <a:r>
              <a:rPr altLang="en-US" dirty="0" lang="en-US">
                <a:latin typeface="New roman"/>
              </a:rPr>
              <a:t>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With the rapid growth of web applications, the number and complexity of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attacks are also increasing.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There is a need for an </a:t>
            </a:r>
            <a:r>
              <a:rPr altLang="en-US" b="1" dirty="0" lang="en-US">
                <a:latin typeface="New roman"/>
              </a:rPr>
              <a:t>intelligent, automated, and adaptive system</a:t>
            </a:r>
            <a:r>
              <a:rPr altLang="en-US" dirty="0" lang="en-US">
                <a:latin typeface="New roman"/>
              </a:rPr>
              <a:t> to 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detect malicious web requests.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The problem is to design a </a:t>
            </a:r>
            <a:r>
              <a:rPr altLang="en-US" b="1" dirty="0" lang="en-US">
                <a:latin typeface="New roman"/>
              </a:rPr>
              <a:t>Transformer-based WAF</a:t>
            </a:r>
            <a:r>
              <a:rPr altLang="en-US" dirty="0" lang="en-US">
                <a:latin typeface="New roman"/>
              </a:rPr>
              <a:t> that can accurately and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altLang="en-US" dirty="0" lang="en-US">
                <a:latin typeface="New roman"/>
              </a:rPr>
              <a:t> efficiently detect attacks in real time.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12</a:t>
            </a:fld>
            <a:endParaRPr altLang="en-US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pPr algn="just" marL="152400">
              <a:lnSpc>
                <a:spcPct val="100000"/>
              </a:lnSpc>
              <a:spcBef>
                <a:spcPts val="0"/>
              </a:spcBef>
            </a:pPr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9286" lnSpcReduction="20000"/>
          </a:bodyPr>
          <a:p>
            <a:r>
              <a:rPr b="1" dirty="0" lang="en-IN"/>
              <a:t>Hardware Requirements:</a:t>
            </a:r>
            <a:endParaRPr dirty="0" lang="en-IN"/>
          </a:p>
          <a:p>
            <a:r>
              <a:rPr dirty="0" lang="en-IN"/>
              <a:t>Laptop / Desktop Computer</a:t>
            </a:r>
          </a:p>
          <a:p>
            <a:r>
              <a:rPr dirty="0" lang="en-IN"/>
              <a:t>Minimum </a:t>
            </a:r>
            <a:r>
              <a:rPr b="1" dirty="0" lang="en-IN"/>
              <a:t>8 GB RAM</a:t>
            </a:r>
            <a:endParaRPr dirty="0" lang="en-IN"/>
          </a:p>
          <a:p>
            <a:r>
              <a:rPr dirty="0" lang="en-IN"/>
              <a:t>Minimum </a:t>
            </a:r>
            <a:r>
              <a:rPr b="1" dirty="0" lang="en-IN"/>
              <a:t>50 GB</a:t>
            </a:r>
            <a:r>
              <a:rPr dirty="0" lang="en-IN"/>
              <a:t> free storage</a:t>
            </a:r>
          </a:p>
          <a:p>
            <a:r>
              <a:rPr dirty="0" lang="en-IN"/>
              <a:t>Internet connection</a:t>
            </a:r>
          </a:p>
          <a:p>
            <a:r>
              <a:rPr b="1" dirty="0" lang="en-IN"/>
              <a:t>Software Requirements:</a:t>
            </a:r>
            <a:endParaRPr dirty="0" lang="en-IN"/>
          </a:p>
          <a:p>
            <a:r>
              <a:rPr dirty="0" lang="en-IN"/>
              <a:t>Operating System: </a:t>
            </a:r>
            <a:r>
              <a:rPr b="1" dirty="0" lang="en-IN"/>
              <a:t>Windows / Linux</a:t>
            </a:r>
            <a:endParaRPr dirty="0" lang="en-IN"/>
          </a:p>
          <a:p>
            <a:r>
              <a:rPr dirty="0" lang="en-IN"/>
              <a:t>Programming Language: </a:t>
            </a:r>
            <a:r>
              <a:rPr b="1" dirty="0" lang="en-IN"/>
              <a:t>Python</a:t>
            </a:r>
            <a:endParaRPr dirty="0" lang="en-IN"/>
          </a:p>
          <a:p>
            <a:r>
              <a:rPr dirty="0" lang="en-IN"/>
              <a:t>Libraries/Frameworks: </a:t>
            </a:r>
            <a:r>
              <a:rPr b="1" dirty="0" lang="en-IN"/>
              <a:t>PyTorch or TensorFlow, NumPy, Pandas</a:t>
            </a:r>
            <a:endParaRPr dirty="0" lang="en-IN"/>
          </a:p>
          <a:p>
            <a:r>
              <a:rPr dirty="0" lang="en-IN"/>
              <a:t>Development Tools: </a:t>
            </a:r>
            <a:r>
              <a:rPr b="1" dirty="0" lang="en-IN"/>
              <a:t>VS Code / PyCharm</a:t>
            </a:r>
            <a:endParaRPr dirty="0" lang="en-IN"/>
          </a:p>
          <a:p>
            <a:r>
              <a:rPr dirty="0" lang="en-IN"/>
              <a:t>Dataset: </a:t>
            </a:r>
            <a:r>
              <a:rPr b="1" dirty="0" lang="en-IN"/>
              <a:t>HTTP request dataset or sample web traffic logs</a:t>
            </a:r>
            <a:endParaRPr dirty="0" lang="en-IN"/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13</a:t>
            </a:fld>
            <a:endParaRPr altLang="en-US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pPr algn="just" marL="152400">
              <a:lnSpc>
                <a:spcPct val="100000"/>
              </a:lnSpc>
              <a:spcBef>
                <a:spcPts val="0"/>
              </a:spcBef>
            </a:pPr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/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Detects both </a:t>
            </a:r>
            <a:r>
              <a:rPr altLang="en-US" b="1" dirty="0" lang="en-US">
                <a:latin typeface="New roman"/>
              </a:rPr>
              <a:t>known and unknown</a:t>
            </a:r>
            <a:r>
              <a:rPr altLang="en-US" dirty="0" lang="en-US">
                <a:latin typeface="New roman"/>
              </a:rPr>
              <a:t> web attacks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Reduces reliance on </a:t>
            </a:r>
            <a:r>
              <a:rPr altLang="en-US" b="1" dirty="0" lang="en-US">
                <a:latin typeface="New roman"/>
              </a:rPr>
              <a:t>manual rules and signatures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Uses </a:t>
            </a:r>
            <a:r>
              <a:rPr altLang="en-US" b="1" dirty="0" lang="en-US">
                <a:latin typeface="New roman"/>
              </a:rPr>
              <a:t>Transformer-based deep learning</a:t>
            </a:r>
            <a:r>
              <a:rPr altLang="en-US" dirty="0" lang="en-US">
                <a:latin typeface="New roman"/>
              </a:rPr>
              <a:t> for better accuracy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Capable of handling </a:t>
            </a:r>
            <a:r>
              <a:rPr altLang="en-US" b="1" dirty="0" lang="en-US">
                <a:latin typeface="New roman"/>
              </a:rPr>
              <a:t>obfuscated and complex attacks</a:t>
            </a:r>
            <a:endParaRPr altLang="en-US" dirty="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="1" dirty="0" lang="en-US">
                <a:latin typeface="New roman"/>
              </a:rPr>
              <a:t>Scalable</a:t>
            </a:r>
            <a:r>
              <a:rPr altLang="en-US" dirty="0" lang="en-US">
                <a:latin typeface="New roman"/>
              </a:rPr>
              <a:t> and adaptable to new attack patterns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lang="en-US">
                <a:latin typeface="New roman"/>
              </a:rPr>
              <a:t>Can be </a:t>
            </a:r>
            <a:r>
              <a:rPr altLang="en-US" b="1" dirty="0" lang="en-US">
                <a:latin typeface="New roman"/>
              </a:rPr>
              <a:t>integrated</a:t>
            </a:r>
            <a:r>
              <a:rPr altLang="en-US" dirty="0" lang="en-US">
                <a:latin typeface="New roman"/>
              </a:rPr>
              <a:t> with existing web security systems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14</a:t>
            </a:fld>
            <a:endParaRPr altLang="en-US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pPr algn="just" marL="152400">
              <a:lnSpc>
                <a:spcPct val="100000"/>
              </a:lnSpc>
              <a:spcBef>
                <a:spcPts val="0"/>
              </a:spcBef>
            </a:pPr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1048640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/>
          <a:p>
            <a:r>
              <a:rPr dirty="0" lang="en-US"/>
              <a:t>Design a </a:t>
            </a:r>
            <a:r>
              <a:rPr b="1" dirty="0" lang="en-US"/>
              <a:t>Transformer-based End-to-End Web Application Firewall (WAF)</a:t>
            </a:r>
            <a:r>
              <a:rPr dirty="0" lang="en-US"/>
              <a:t> that:</a:t>
            </a:r>
          </a:p>
          <a:p>
            <a:r>
              <a:rPr dirty="0" lang="en-US"/>
              <a:t>Inspects HTTP requests</a:t>
            </a:r>
          </a:p>
          <a:p>
            <a:r>
              <a:rPr dirty="0" lang="en-US"/>
              <a:t>Detects malicious traffic (SQLi, XSS, RCE, etc.)</a:t>
            </a:r>
          </a:p>
          <a:p>
            <a:r>
              <a:rPr dirty="0" lang="en-US"/>
              <a:t>Uses a Transformer model instead of rule-based matching</a:t>
            </a:r>
          </a:p>
          <a:p>
            <a:r>
              <a:rPr dirty="0" lang="en-US"/>
              <a:t>Works in real-time (low latency)</a:t>
            </a:r>
          </a:p>
          <a:p>
            <a:r>
              <a:rPr dirty="0" lang="en-US"/>
              <a:t>Scales horizontally</a:t>
            </a:r>
          </a:p>
          <a:p>
            <a:pPr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15</a:t>
            </a:fld>
            <a:endParaRPr altLang="en-US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dirty="0" lang="en-US"/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b="1" dirty="0" lang="en-US"/>
              <a:t>Transformer Model Layer</a:t>
            </a:r>
          </a:p>
          <a:p>
            <a:r>
              <a:rPr dirty="0" lang="en-US"/>
              <a:t>Use:</a:t>
            </a:r>
          </a:p>
          <a:p>
            <a:r>
              <a:rPr dirty="0" lang="en-US"/>
              <a:t>BERT</a:t>
            </a:r>
          </a:p>
          <a:p>
            <a:r>
              <a:rPr dirty="0" lang="en-US"/>
              <a:t>DistilBERT</a:t>
            </a:r>
          </a:p>
          <a:p>
            <a:r>
              <a:rPr dirty="0" lang="en-US"/>
              <a:t>Custom Transformer</a:t>
            </a:r>
          </a:p>
          <a:p>
            <a:r>
              <a:rPr dirty="0" lang="en-US"/>
              <a:t>Fine-tuned on malicious request dataset</a:t>
            </a:r>
          </a:p>
          <a:p>
            <a:r>
              <a:rPr b="1" dirty="0" lang="en-US"/>
              <a:t>Model Task:</a:t>
            </a:r>
          </a:p>
          <a:p>
            <a:r>
              <a:rPr dirty="0" lang="en-US"/>
              <a:t>Binary classification:</a:t>
            </a:r>
          </a:p>
          <a:p>
            <a:r>
              <a:rPr dirty="0" lang="en-US"/>
              <a:t>0 → Legitimate</a:t>
            </a:r>
          </a:p>
          <a:p>
            <a:r>
              <a:rPr dirty="0" lang="en-US"/>
              <a:t>1 → Malicious</a:t>
            </a:r>
          </a:p>
          <a:p>
            <a:endParaRPr dirty="0" lang="en-US"/>
          </a:p>
        </p:txBody>
      </p:sp>
      <p:sp>
        <p:nvSpPr>
          <p:cNvPr id="1048644" name="Date Placeholder 3"/>
          <p:cNvSpPr>
            <a:spLocks noGrp="1"/>
          </p:cNvSpPr>
          <p:nvPr>
            <p:ph type="dt" sz="half" idx="10"/>
          </p:nvPr>
        </p:nvSpPr>
        <p:spPr>
          <a:xfrm flipV="1">
            <a:off x="838200" y="6857999"/>
            <a:ext cx="1009650" cy="111210"/>
          </a:xfrm>
        </p:spPr>
        <p:txBody>
          <a:bodyPr/>
          <a:p>
            <a:endParaRPr dirty="0" lang="en-IN"/>
          </a:p>
        </p:txBody>
      </p:sp>
      <p:sp>
        <p:nvSpPr>
          <p:cNvPr id="10486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16</a:t>
            </a:fld>
            <a:endParaRPr dirty="0"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p>
            <a:pPr algn="just" marL="152400">
              <a:lnSpc>
                <a:spcPct val="100000"/>
              </a:lnSpc>
              <a:spcBef>
                <a:spcPts val="0"/>
              </a:spcBef>
            </a:pPr>
            <a:r>
              <a:rPr b="1" dirty="0" sz="3200" lang="en-IN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10486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17</a:t>
            </a:fld>
            <a:endParaRPr altLang="en-US" lang="en-US"/>
          </a:p>
        </p:txBody>
      </p:sp>
      <p:sp>
        <p:nvSpPr>
          <p:cNvPr id="104864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48402"/>
            <a:ext cx="6514078" cy="55778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Collect HTTP request logs (normal + malicious).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Label data as </a:t>
            </a:r>
            <a:r>
              <a:rPr altLang="en-US" baseline="0" b="1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0 (Benign)</a:t>
            </a: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and </a:t>
            </a:r>
            <a:r>
              <a:rPr altLang="en-US" baseline="0" b="1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1 (Malicious)</a:t>
            </a: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sz="2000" lang="en-US">
                <a:latin typeface="New roman"/>
              </a:rPr>
              <a:t>Convert HTTP requests into text format.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sz="2000" lang="en-US">
                <a:latin typeface="New roman"/>
              </a:rPr>
              <a:t>Use Transformer tokenizer (e.g., DistilBERT tokenizer).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sz="2000" lang="en-US">
                <a:latin typeface="New roman"/>
              </a:rPr>
              <a:t>Use a pre-trained model (DistilBERT/BERT).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sz="2000" lang="en-US">
                <a:latin typeface="New roman"/>
              </a:rPr>
              <a:t>Fine-tune on labeled WAF dataset.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dirty="0" sz="2000" lang="en-US">
                <a:latin typeface="New roman"/>
              </a:rPr>
              <a:t>Load trained model into FastAPI/Flask service.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sz="2000" lang="en-US">
                <a:latin typeface="New roman"/>
              </a:rPr>
              <a:t>If confidence &gt; threshold → </a:t>
            </a:r>
            <a:r>
              <a:rPr altLang="en-US" b="1" dirty="0" sz="2000" lang="en-US">
                <a:latin typeface="New roman"/>
              </a:rPr>
              <a:t>BLOCK</a:t>
            </a:r>
            <a:r>
              <a:rPr altLang="en-US" dirty="0" sz="2000" lang="en-US">
                <a:latin typeface="New roman"/>
              </a:rPr>
              <a:t> request.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dirty="0" sz="2000" lang="en-US">
                <a:latin typeface="New roman"/>
              </a:rPr>
              <a:t>Else → </a:t>
            </a:r>
            <a:r>
              <a:rPr altLang="en-US" b="1" dirty="0" sz="2000" lang="en-US">
                <a:latin typeface="New roman"/>
              </a:rPr>
              <a:t>ALLOW</a:t>
            </a:r>
            <a:r>
              <a:rPr altLang="en-US" dirty="0" sz="2000" lang="en-US">
                <a:latin typeface="New roman"/>
              </a:rPr>
              <a:t> request.</a:t>
            </a: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dirty="0" sz="2000" lang="en-US">
                <a:latin typeface="New roman"/>
              </a:rPr>
              <a:t>System ready for scaling and production enhancement.</a:t>
            </a:r>
            <a:endParaRPr altLang="en-US" dirty="0" sz="200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altLang="en-US" dirty="0" sz="200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dirty="0" sz="200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dirty="0" sz="200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altLang="en-US" dirty="0" sz="2000" lang="en-US">
              <a:latin typeface="New roman"/>
            </a:endParaRPr>
          </a:p>
          <a:p>
            <a:pPr eaLnBrk="0" fontAlgn="base" hangingPunct="0" indent="0" lvl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altLang="en-US" dirty="0" sz="2000" lang="en-US">
              <a:latin typeface="New roman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dirty="0" sz="20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dirty="0" sz="20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dirty="0" sz="20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p>
            <a:r>
              <a:rPr dirty="0" lang="en-US"/>
              <a:t>Model-Training</a:t>
            </a:r>
          </a:p>
        </p:txBody>
      </p:sp>
      <p:pic>
        <p:nvPicPr>
          <p:cNvPr id="2097152" name="Content Placeholder 6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20603" y="1462088"/>
            <a:ext cx="9728629" cy="4123166"/>
          </a:xfrm>
        </p:spPr>
      </p:pic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  <a:t>3/4/2026</a:t>
            </a:fld>
            <a:endParaRPr dirty="0" lang="en-IN"/>
          </a:p>
        </p:txBody>
      </p:sp>
      <p:sp>
        <p:nvSpPr>
          <p:cNvPr id="104865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18</a:t>
            </a:fld>
            <a:endParaRPr dirty="0"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Training Results</a:t>
            </a:r>
          </a:p>
        </p:txBody>
      </p:sp>
      <p:pic>
        <p:nvPicPr>
          <p:cNvPr id="2097153" name="Content Placeholder 6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989438" y="1555363"/>
            <a:ext cx="7599406" cy="4042247"/>
          </a:xfrm>
        </p:spPr>
      </p:pic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  <a:t>3/4/2026</a:t>
            </a:fld>
            <a:endParaRPr dirty="0" lang="en-IN"/>
          </a:p>
        </p:txBody>
      </p:sp>
      <p:sp>
        <p:nvSpPr>
          <p:cNvPr id="10486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  <a:t>19</a:t>
            </a:fld>
            <a:endParaRPr dirty="0"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p>
            <a:r>
              <a:rPr b="1" dirty="0" sz="320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Road Map</a:t>
            </a:r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20</a:t>
            </a:fld>
            <a:endParaRPr altLang="en-US" lang="en-US"/>
          </a:p>
        </p:txBody>
      </p:sp>
      <p:graphicFrame>
        <p:nvGraphicFramePr>
          <p:cNvPr id="4194305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p>
            <a:r>
              <a:rPr b="1" dirty="0" sz="320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21</a:t>
            </a:fld>
            <a:endParaRPr altLang="en-US" lang="en-US"/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p>
            <a:pPr indent="0" marL="0">
              <a:buNone/>
            </a:pPr>
            <a:r>
              <a:rPr b="1" dirty="0" lang="en-US">
                <a:solidFill>
                  <a:schemeClr val="accent2">
                    <a:lumMod val="75000"/>
                  </a:schemeClr>
                </a:solidFill>
                <a:latin typeface="New roman"/>
                <a:ea typeface="Cambria" panose="02040503050406030204" pitchFamily="18" charset="0"/>
              </a:rPr>
              <a:t>GitHub Link : https://github.com/varshthrss/CDV_14_WEB_Pipeline</a:t>
            </a:r>
          </a:p>
          <a:p>
            <a:pPr indent="0" marL="0">
              <a:buNone/>
            </a:pPr>
            <a:endParaRPr dirty="0" lang="en-US">
              <a:latin typeface="New roman"/>
            </a:endParaRPr>
          </a:p>
          <a:p>
            <a:pPr indent="0" marL="0">
              <a:buNone/>
            </a:pPr>
            <a:endParaRPr dirty="0" lang="en-US">
              <a:latin typeface="New roman"/>
            </a:endParaRPr>
          </a:p>
          <a:p>
            <a:endParaRPr dirty="0"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p>
            <a:pPr algn="ctr" indent="0" marL="0">
              <a:buNone/>
            </a:pPr>
            <a:endParaRPr dirty="0" sz="6600"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indent="0" marL="0">
              <a:buNone/>
            </a:pPr>
            <a:r>
              <a:rPr dirty="0" sz="6600"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dirty="0" sz="6600" lang="en-US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algn="ctr" indent="0" marL="0">
              <a:buNone/>
            </a:pPr>
            <a:endParaRPr dirty="0" sz="6600" lang="en-US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altLang="en-US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Picture 7" descr="bd04924_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p>
            <a:pPr algn="ctr" indent="0" marL="0">
              <a:buNone/>
            </a:pPr>
            <a:r>
              <a:rPr dirty="0" sz="6600" lang="en-US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5EC703-C051-410C-8BA1-62752E291E83}" type="slidenum">
              <a:rPr altLang="en-US" lang="en-US" smtClean="0"/>
              <a:t>23</a:t>
            </a:fld>
            <a:endParaRPr altLang="en-US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Gopalakrishnan N-Asst. Prof-CIV</dc:creator>
  <cp:lastModifiedBy>Karthikeya RS</cp:lastModifiedBy>
  <dcterms:created xsi:type="dcterms:W3CDTF">2022-10-13T20:18:17Z</dcterms:created>
  <dcterms:modified xsi:type="dcterms:W3CDTF">2026-03-04T03:23:07Z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520c695c83af4ff9b767c72957979662</vt:lpwstr>
  </property>
</Properties>
</file>